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4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6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6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A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A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7A44F48-40D4-4EAB-9925-86C216A4D4C3}" type="slidenum">
              <a:rPr b="0" lang="en-A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the example application we combine private and public data.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Private data is collected from penetration test reports conducted on the enterprise network and applications. Results recorded in the reports are confidential to the organisation.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Public data is the PCI DSS standard. This standard is a part of public domain. As a result, generally available LLMs are trained on this document.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When the company decides to use LLM in business, it should decide how to incorporate private data in the machine.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will briefly describe the methods to deliver private data in the machine.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keeps private data separate from the machine in the database.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Such database has to be created and maintained by the organisation.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Part of the example application called Indexer creates and maintains RAG database.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 that the steps required to created RAG solution can be reused in Tuning solution.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Tuning process incorporates private data into LLM decision making.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method depends on the quality of data supplied.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Note that RAG solution can be used to verify quality of data before deployment of Tuning solution.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believe that organisations entering ML can benefit from gradual introduction.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allows to introduce ML at a cost lower that Tuning.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use Pydantic development library to create our ML applications.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believe that Pydantic provides the balance of features and portability across major ML platforms.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Investing in Pydantic Agent solution reduces the risk of obsolete technology.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Our example application stores RAG database separately from Cloud LLM.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allows full control of private data.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 can use the apps with Web interface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 we can run apps as service scripts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96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Default memory configuration of MS-S1 Max is a 64 GB for OS and 64GB of shared memory for OS, GPU, NPU.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AMD Variable Graphics Memory (VGM) is a preallocated continuous block of physical </a:t>
            </a: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memory.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Enabling VGM improves MLPerf score 2-3% compared with default configuration.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Total potential memory for GPU is 112 GB (96 + 16).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96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Baseline for MLPerf performance comparison.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This workstation was released in 2018.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Note that the current Dell Precision 7680 costs AUD 4700 which is comparable in price to Minisforum MS-S1 Max (AUD 4300)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Memory is shared between CPU and GPU via NVidia  driver.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96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MLPerf is a self-contained benchmark.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MLPerf uses small LLMs to allow better coverage across platforms.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MLPerf results are indicative of platform performance.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Business-specific workloads may have different results.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96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Llama 3.1 8B results show significant improvement.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Phi 3.5 Mini results show improvement in start up.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extracts private data from unstructured documents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monitors quality of data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 is a privileged role with access to all the data.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Dual use Indexer app executed as command line script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Calls to Cloud deployed Gemini LLM consume tokens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Call to local RAG database do not consume tokens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5120" cy="400716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Hybrid architecture allows flexibility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Where the database is stored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Where the application itself is deployed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What LLM host service is used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 of these components can be configured to minimise operational expenses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Query application uses RAG database and cloud deployed LLM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Cloud access via REST API specific to the LLM provider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Answer is generated in two steps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1. RAG database query to select private data set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 Combine initial query with RAG data in the final LLM query.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Original query is XSS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database is queried for list of synonyms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Returns from RAG queries create context for the final call to general LLM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Final query to general LLM asks about PCI DSS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RAG query result is incorporated as a structured input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reply from general LLM incorporates: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private data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public data in the form of PCI DSS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 example of semantic search results that illustrate the challenge of data retrieval: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The intent of the query was to retrieve all issues describing XSS vulnerabilities in the software.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The item retrieved by semantic search described potential XSS vulnerability in a third-party application “Jenkins”.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From the point of view of LLM, the answer matches the query. There is an XSS issue in Jenkins. Job well done.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- From the point of view of the user, this answer is likely incorrect. The information about third-party XSS issue is not relevant to enterprise software developer. </a:t>
            </a: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A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 flipH="1" flipV="1">
            <a:off x="-4320" y="4495680"/>
            <a:ext cx="10076040" cy="116604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6040" cy="107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6040" cy="16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8205CB-15E8-4185-9EDA-6F7629DDACAC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 flipH="1" flipV="1">
            <a:off x="-4320" y="4495680"/>
            <a:ext cx="10076040" cy="116604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6040" cy="107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6040" cy="161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B72774-262F-4301-A8E9-EA0689779F1D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0072800" cy="7160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"/>
          <p:cNvSpPr/>
          <p:nvPr/>
        </p:nvSpPr>
        <p:spPr>
          <a:xfrm>
            <a:off x="3240" y="5040000"/>
            <a:ext cx="10072800" cy="62748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6040" cy="47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36040" cy="35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717CAE3-9CCB-4387-A851-FF353E2FF10F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 flipH="1" flipV="1">
            <a:off x="-3600" y="4496400"/>
            <a:ext cx="10076760" cy="116676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6760" cy="107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6760" cy="161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36760" cy="3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36760" cy="3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36760" cy="3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FF3AAA-170F-4871-B7B8-454023987BE1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0073520" cy="71676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3240" y="5040000"/>
            <a:ext cx="10073520" cy="6282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blurRad="0"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6760" cy="47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6760" cy="35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1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b="0" lang="en-A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b="0" lang="en-A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15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b="0" lang="en-A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3"/>
          </p:nvPr>
        </p:nvSpPr>
        <p:spPr>
          <a:xfrm>
            <a:off x="360000" y="5220000"/>
            <a:ext cx="2336760" cy="3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4"/>
          </p:nvPr>
        </p:nvSpPr>
        <p:spPr>
          <a:xfrm>
            <a:off x="3420000" y="5220000"/>
            <a:ext cx="3236760" cy="3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5"/>
          </p:nvPr>
        </p:nvSpPr>
        <p:spPr>
          <a:xfrm>
            <a:off x="7380000" y="5220000"/>
            <a:ext cx="2336760" cy="35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8B50DC8-C140-4EE6-B66B-421BD5E446AD}" type="slidenum">
              <a:rPr b="0" lang="en-AU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A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github.com/DarlowieTechnology/a_bridge_too_far" TargetMode="External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0" y="1616040"/>
            <a:ext cx="8996040" cy="1083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Workflow Optimisation Project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Introduction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LLMs is an opportunity to improve productivity.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Productivity requires new workflows.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Private enterprise data is the difference in the market.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Make sense to focus on workflows related to private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A48D72-DDE5-456E-B561-BB58351EE372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Relevant Quote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2311920" y="995400"/>
            <a:ext cx="5466960" cy="369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B304CC-1F85-4992-AE5B-5DD1FA616E44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Example Case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Proof of Concept use private and public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Private data – collection of documents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Public data – general data used for training LLM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220E319-3E4C-4F4B-9A23-80C189C4A92E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Technologies of Machine Learning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Machine learning in enterprise settings should focus on private data.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There are two major ways to implement ML: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RAG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LLM Tuning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9E24F55-6ECC-47BB-9007-A9DA34C06749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Retrieval-Augmented Generation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Data manipulation portable between LLM providers. 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Initial step for LLM tuning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Conversion of documents to structured data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disadvantages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Low performance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Low precision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D8B4739-8831-4B0D-8C9C-A21413DBC08D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LLM Tuning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High performance 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High precision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disadvantages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Tuning expense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4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Periodic re-tuning required</a:t>
            </a: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B017B18-4F9B-4AF9-AA1E-75E52C5D44EF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Summary: RAG as an Entry Point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solution as an entry to LLM workflows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convert unstructured data to structured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implement effective authorisation mechanism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RAG allows to verify quality of data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6AF641B-E81C-4FFE-AE8B-37D7DD61B0A8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Pydantic Agent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Best of Agentic AI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Portable across all major LLM providers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Types based on JSON schema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Wraps iterative LLM calls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Serves as the foundation of many LLM SDKs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F63AB18-3AA1-4FEA-8A09-A4D36A257DE7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Architecture Summary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Example app is a hybrid architecture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Cloud-based LLM accessed via REST API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Local vector database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Dual use web apps and command line scripts 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5D99AAE-7D94-428A-BAC2-3D7782F8310C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Source Code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Public repository on GitHub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github.com/DarlowieTechnology/a_bridge_too_far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Python, Pydantic, Django, ChromaDB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4 applications (generator, indexer, query, discovery)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b="0" lang="en-A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C754651-1902-4E52-931F-2B2F094785E1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0" y="1616760"/>
            <a:ext cx="8996760" cy="108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Hardware Platform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MINISFORUM MS-S1 Max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AMD Ryzen™ AI Max+ 395 Platform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CPU: Ryzen AI Max 300, 3.00 GHz,  16 / 32 cores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GPU: Radeon 8060S 2 GB, additional 96 GB RAM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16 GB OS RAM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16 GB Shared RAM (GPU and NPU)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E5BEECE-7313-48B9-9AE3-1766D2ABA580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Baseline: Dell Precision 7530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General-purpose Intel-based workstation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CPU: Intel i7-9750H, 2.60 GHz, 6 / 12 cores 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GPU: NVidia Quadro T1000 4 GB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64 GB RAM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35.9 GB Shared RAM (GPU)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48A67C-EA10-493A-AE44-FFE4C57E1DD7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Benchmarks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6040" cy="359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MLPerf Client v1.5 on Windows 11 Pro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Llama 3.1 8B Instruct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</a:rPr>
              <a:t>Phi 3.5 Mini Instruct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2BE8720-3C7F-4C37-AAE0-87E6ED476FAB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60000" y="164160"/>
            <a:ext cx="9356040" cy="505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MLPerf Results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"/>
          <p:cNvGraphicFramePr/>
          <p:nvPr/>
        </p:nvGraphicFramePr>
        <p:xfrm>
          <a:off x="382320" y="1374120"/>
          <a:ext cx="9430920" cy="3775320"/>
        </p:xfrm>
        <a:graphic>
          <a:graphicData uri="http://schemas.openxmlformats.org/drawingml/2006/table">
            <a:tbl>
              <a:tblPr/>
              <a:tblGrid>
                <a:gridCol w="3142800"/>
                <a:gridCol w="2143440"/>
                <a:gridCol w="4144680"/>
              </a:tblGrid>
              <a:tr h="62856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Benchmark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Dell Precision 7530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Minisforum MS-S1 Max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Llama 3.1 8B Instruct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9880"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 to First Token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38.99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1.21 (3222% better)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3320"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Tokens per Second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3.4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37.5 (1102% better)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3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Phi 3.5 Mini Instruct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99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 to First Token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19.02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2.09 (910% better)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184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Tokens per Second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25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 anchorCtr="1">
                      <a:noAutofit/>
                    </a:bodyPr>
                    <a:p>
                      <a:pPr algn="ctr"/>
                      <a:r>
                        <a:rPr b="0" lang="en-AU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25.4 (2% worse)</a:t>
                      </a:r>
                      <a:endParaRPr b="0" lang="en-A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EAE75CE-30C6-4235-AFFF-66CCBB79EC80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0" y="1616760"/>
            <a:ext cx="8996760" cy="108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Indexer Application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60000" y="164880"/>
            <a:ext cx="9356760" cy="50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High-Level Indexer Service Design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" descr=""/>
          <p:cNvPicPr/>
          <p:nvPr/>
        </p:nvPicPr>
        <p:blipFill>
          <a:blip r:embed="rId1"/>
          <a:stretch/>
        </p:blipFill>
        <p:spPr>
          <a:xfrm>
            <a:off x="628200" y="973800"/>
            <a:ext cx="8846280" cy="37306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7F6F6EC-D331-4CBF-92F0-E89063CB27A2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60000" y="164880"/>
            <a:ext cx="9356760" cy="50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Indexer Output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39600" y="871920"/>
            <a:ext cx="10078560" cy="39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60D5E5B-B830-4901-8033-E760A5E5AFAE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60000" y="164880"/>
            <a:ext cx="9356760" cy="50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Hybrid Architecture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>
            <a:off x="1186920" y="1283400"/>
            <a:ext cx="7694640" cy="309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DAFC614-2F2A-48B9-97C1-4642DCC34EEF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0" y="1617120"/>
            <a:ext cx="8997120" cy="108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dd4100"/>
                </a:solidFill>
                <a:effectLst/>
                <a:uFillTx/>
                <a:latin typeface="Arial"/>
              </a:rPr>
              <a:t>Query Application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High-Level Query App Design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" descr=""/>
          <p:cNvPicPr/>
          <p:nvPr/>
        </p:nvPicPr>
        <p:blipFill>
          <a:blip r:embed="rId1"/>
          <a:stretch/>
        </p:blipFill>
        <p:spPr>
          <a:xfrm>
            <a:off x="1653480" y="1407240"/>
            <a:ext cx="6761160" cy="284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EB72BA3-1822-495F-B639-1CD62E313271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RAG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" descr=""/>
          <p:cNvPicPr/>
          <p:nvPr/>
        </p:nvPicPr>
        <p:blipFill>
          <a:blip r:embed="rId1"/>
          <a:stretch/>
        </p:blipFill>
        <p:spPr>
          <a:xfrm>
            <a:off x="39600" y="1434600"/>
            <a:ext cx="10078560" cy="452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BF28C7C-B0C6-4CD4-AC4D-66485381FEA8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" descr=""/>
          <p:cNvPicPr/>
          <p:nvPr/>
        </p:nvPicPr>
        <p:blipFill>
          <a:blip r:embed="rId1"/>
          <a:stretch/>
        </p:blipFill>
        <p:spPr>
          <a:xfrm>
            <a:off x="39600" y="1571760"/>
            <a:ext cx="10078560" cy="255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3171DFA6-1D12-47A5-A697-EE877434773F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39600" y="1403640"/>
            <a:ext cx="10078560" cy="374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E296D5C-3112-49A8-B180-AE231D50E102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360000" y="165240"/>
            <a:ext cx="9357120" cy="50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AU" sz="3300" strike="noStrike" u="none">
                <a:solidFill>
                  <a:srgbClr val="eeeeee"/>
                </a:solidFill>
                <a:effectLst/>
                <a:uFillTx/>
                <a:latin typeface="Arial"/>
              </a:rPr>
              <a:t>Query Semantic Search</a:t>
            </a:r>
            <a:endParaRPr b="0" lang="en-AU" sz="3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315720" y="878040"/>
            <a:ext cx="9528840" cy="38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Query “</a:t>
            </a:r>
            <a:r>
              <a:rPr b="0" i="1" lang="en-AU" sz="3200" strike="noStrike" u="non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XSS issues</a:t>
            </a: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”</a:t>
            </a:r>
            <a:endParaRPr b="0" lang="en-A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A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Semantic search returns:</a:t>
            </a:r>
            <a:endParaRPr b="0" lang="en-A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A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i="1" lang="en-AU" sz="32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installed version of Jenkins server was affected by a number of security vulnerabilities. Known vulnerabilities included CSRF and </a:t>
            </a:r>
            <a:r>
              <a:rPr b="1" i="1" lang="en-AU" sz="3200" strike="noStrike" u="sng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  <a:ea typeface="DejaVu Sans"/>
              </a:rPr>
              <a:t>XSS</a:t>
            </a:r>
            <a:r>
              <a:rPr b="0" i="1" lang="en-AU" sz="32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weaknesses.</a:t>
            </a:r>
            <a:r>
              <a:rPr b="0" lang="en-AU" sz="3200" strike="noStrike" u="non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0" lang="en-AU" sz="2800" strike="noStrike" u="non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A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CEBF235-4AD3-4CDA-B485-AA0361EC1CF1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546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2025-10-19T09:40:00Z</dcterms:created>
  <dc:creator/>
  <dc:description>This work is licensed under a Creative Commons 0 License.
It makes use of the works of kka_libo_design@ashisuto.co.jp.</dc:description>
  <dc:language>en-AU</dc:language>
  <cp:lastModifiedBy/>
  <dcterms:modified xsi:type="dcterms:W3CDTF">2026-03-08T10:50:15Z</dcterms:modified>
  <cp:revision>75</cp:revision>
  <dc:subject/>
  <dc:title>Blue Curve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