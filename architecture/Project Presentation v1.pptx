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6.xml" ContentType="application/vnd.openxmlformats-officedocument.them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Masters/slideMaster1.xml" ContentType="application/vnd.openxmlformats-officedocument.presentationml.slideMaster+xml"/>
  <Override PartName="/ppt/slideMasters/slideMaster4.xml" ContentType="application/vnd.openxmlformats-officedocument.presentationml.slideMaster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4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6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lang="en-A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move the slide</a:t>
            </a:r>
            <a:endParaRPr lang="en-A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notes' format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dt" idx="16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ftr" idx="17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8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C4610FBB-4024-4889-BB1D-63042E03A704}" type="slidenum">
              <a:rPr lang="en-A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9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9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Large Language Models allow to replace mundane text generation with automation. This can lead to reduction in labour expenses and increase in profitability.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Incorporating LLMs require changes in business process.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Every company have access to LLMs trained on public data. Therefore, the knowledge of public data is not a competitive advantage. Only private data gives advantage.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Investing in LLM workflows should focus on using private data. This gives biggest advantage.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More context – what we try to automate. – context of security work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9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 the example application we combine private and public data.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Private data is collected from penetration test reports conducted on the enterprise network and applications. Results recorded in the reports are confidential to the organisation.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Public data is the PCI DSS standard. This standard is a part of public domain. As a result, generally available LLMs are trained on this document.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10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company decides to use LLM in business, it should decide how to incorporate private data in the machine.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will briefly describe the methods to deliver private data in the machine.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680" cy="4005720"/>
          </a:xfrm>
          <a:prstGeom prst="rect">
            <a:avLst/>
          </a:prstGeom>
          <a:ln w="0">
            <a:noFill/>
          </a:ln>
        </p:spPr>
      </p:sp>
      <p:sp>
        <p:nvSpPr>
          <p:cNvPr id="10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keeps private data separate from the machine in the database.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Such database has to be created and maintained by the organisation.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 of the example application called Indexer creates and maintains RAG database.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 that the steps required to created RAG solution can be reused in Tuning solution.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680" cy="4005720"/>
          </a:xfrm>
          <a:prstGeom prst="rect">
            <a:avLst/>
          </a:prstGeom>
          <a:ln w="0">
            <a:noFill/>
          </a:ln>
        </p:spPr>
      </p:sp>
      <p:sp>
        <p:nvSpPr>
          <p:cNvPr id="10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Tuning process incorporates private data into LLM decision making.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method depends on the quality of data supplied.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Note that RAG solution can be used to verify quality of data before deployment of Tuning solution.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680" cy="4005720"/>
          </a:xfrm>
          <a:prstGeom prst="rect">
            <a:avLst/>
          </a:prstGeom>
          <a:ln w="0">
            <a:noFill/>
          </a:ln>
        </p:spPr>
      </p:sp>
      <p:sp>
        <p:nvSpPr>
          <p:cNvPr id="10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believe that organisations entering ML can benefit from gradual introduction.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allows to introduce ML at a cost lower that Tuning.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680" cy="4005720"/>
          </a:xfrm>
          <a:prstGeom prst="rect">
            <a:avLst/>
          </a:prstGeom>
          <a:ln w="0">
            <a:noFill/>
          </a:ln>
        </p:spPr>
      </p:sp>
      <p:sp>
        <p:nvSpPr>
          <p:cNvPr id="10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use Pydantic development library to create our ML applications.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believe that Pydantic provides the balance of features and portability across major ML platforms.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Investing in Pydantic Agent solution reduces the risk of obsolete technology.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680" cy="4005720"/>
          </a:xfrm>
          <a:prstGeom prst="rect">
            <a:avLst/>
          </a:prstGeom>
          <a:ln w="0">
            <a:noFill/>
          </a:ln>
        </p:spPr>
      </p:sp>
      <p:sp>
        <p:nvSpPr>
          <p:cNvPr id="11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Our example application stores RAG database separately from Cloud LLM.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allows full control of private data.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 can use the apps with Web interface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 we can run apps as service scripts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520"/>
          </a:xfrm>
          <a:prstGeom prst="rect">
            <a:avLst/>
          </a:prstGeom>
          <a:ln w="0">
            <a:noFill/>
          </a:ln>
        </p:spPr>
      </p:sp>
      <p:sp>
        <p:nvSpPr>
          <p:cNvPr id="1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Default memory configuration of MS-S1 Max is a 64 GB general memory and 64GB of shared memory for OS, GPU, NPU.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AMD Variable Graphics Memory (VGM) is a preallocated continuous block of physical memory.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Enabling VGM improves MLPerf score 2-3% compared with default configuration.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Total potential memory for GPU is 112 GB (96 + 16).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520"/>
          </a:xfrm>
          <a:prstGeom prst="rect">
            <a:avLst/>
          </a:prstGeom>
          <a:ln w="0">
            <a:noFill/>
          </a:ln>
        </p:spPr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Baseline for MLPerf performance comparison.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This workstation was released in 2018.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Note that the current Dell Precision 7680 costs AUD 4700 which is comparable in price to Minisforum MS-S1 Max (AUD 4300)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Memory is shared between CPU and GPU via NVidia  driver.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520"/>
          </a:xfrm>
          <a:prstGeom prst="rect">
            <a:avLst/>
          </a:prstGeom>
          <a:ln w="0">
            <a:noFill/>
          </a:ln>
        </p:spPr>
      </p:sp>
      <p:sp>
        <p:nvSpPr>
          <p:cNvPr id="1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MLPerf is a self-contained benchmark.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MLPerf uses small LLMs to allow better coverage across platforms.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MLPerf results are indicative of platform performance.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Business-specific workloads may have different results.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520"/>
          </a:xfrm>
          <a:prstGeom prst="rect">
            <a:avLst/>
          </a:prstGeom>
          <a:ln w="0">
            <a:noFill/>
          </a:ln>
        </p:spPr>
      </p:sp>
      <p:sp>
        <p:nvSpPr>
          <p:cNvPr id="11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Llama 3.1 8B results show significant improvement.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Phi 3.5 Mini results show improvement in start up.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52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gpt-oss-20b LLM was used on local hosts. Gemini 3.1 was used on Google clous.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Usage restructions on Google Cloud force users into paid-for solution.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Ollama uses PyTourch and AMD ROCm drivers to implement GPU acceleration. PyTourch has to be compiled with CUDA support. Compilation would require GCC and Clang support. Conclusion: doable but not production level.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In contrast to Ollama, LM Studio  supports AMD GPU acceleration out of the box on Windows. It is recommended by AMD.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Cloud provider outperform local host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5480" cy="4007520"/>
          </a:xfrm>
          <a:prstGeom prst="rect">
            <a:avLst/>
          </a:prstGeom>
          <a:ln w="0">
            <a:noFill/>
          </a:ln>
        </p:spPr>
      </p:sp>
      <p:sp>
        <p:nvSpPr>
          <p:cNvPr id="12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6200" cy="4809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hosting provided by LM Studio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Gemini model was hosted in Google cloud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Gpt-oss models outperformed Llama 3.3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Google cloud outperformed local host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All locally hosted models had same parameters: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Temperature: 0.1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Seed: 1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Reasoning effort: Low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 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Gemini had default parameters.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12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extracts private data from unstructured documents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monitors quality of data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Operator is a privileged role with access to all the data.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Dual use Indexer app executed as command line script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Calls to Cloud deployed Gemini LLM consume tokens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 to local RAG database do not consume tokens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216360" y="812520"/>
            <a:ext cx="7123680" cy="400572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Hybrid architecture allows flexibility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the database is stored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Where the application itself is deployed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What LLM host service is used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of these components can be configured to minimise operational expenses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131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Query application uses RAG database and cloud deployed LLM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Cloud access via REST API specific to the LLM provider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Answer is generated in two steps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RAG database query to select private data set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Combine initial query with RAG data in the final LLM query.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query is XSS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database is queried for list of synonyms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Returns from RAG queries create context for the final call to general LLM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Final query to general LLM asks about PCI DSS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RAG query result is incorporated as a structured input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13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reply from general LLM incorporates: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private data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public data in the form of PCI DSS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4040" cy="4005720"/>
          </a:xfrm>
          <a:prstGeom prst="rect">
            <a:avLst/>
          </a:prstGeom>
          <a:ln w="0">
            <a:noFill/>
          </a:ln>
        </p:spPr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4400" cy="4807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 example of semantic search results that illustrate the challenge of data retrieval: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The intent of the query was to retrieve all issues describing XSS vulnerabilities in the software.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The item retrieved by semantic search described potential XSS vulnerability in a third-party application “Jenkins”.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From the point of view of LLM, the answer matches the query. There is an XSS issue in Jenkins. Job well done.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From the point of view of the user, this answer is likely incorrect. The information about third-party XSS issue is not relevant to enterprise software developer.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flipH="1" flipV="1">
            <a:off x="-5760" y="4494240"/>
            <a:ext cx="10074600" cy="11646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4600" cy="107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4600" cy="161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1"/>
          </p:nvPr>
        </p:nvSpPr>
        <p:spPr>
          <a:xfrm>
            <a:off x="36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ftr" idx="2"/>
          </p:nvPr>
        </p:nvSpPr>
        <p:spPr>
          <a:xfrm>
            <a:off x="3420000" y="5220000"/>
            <a:ext cx="32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sldNum" idx="3"/>
          </p:nvPr>
        </p:nvSpPr>
        <p:spPr>
          <a:xfrm>
            <a:off x="738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86B6C9-9FD0-4AA7-BB5D-9FE0973A75F8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"/>
          <p:cNvSpPr/>
          <p:nvPr/>
        </p:nvSpPr>
        <p:spPr>
          <a:xfrm flipH="1" flipV="1">
            <a:off x="-5760" y="4494240"/>
            <a:ext cx="10074600" cy="116460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4600" cy="107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4600" cy="161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4"/>
          </p:nvPr>
        </p:nvSpPr>
        <p:spPr>
          <a:xfrm>
            <a:off x="36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4"/>
          <p:cNvSpPr>
            <a:spLocks noGrp="1"/>
          </p:cNvSpPr>
          <p:nvPr>
            <p:ph type="ftr" idx="5"/>
          </p:nvPr>
        </p:nvSpPr>
        <p:spPr>
          <a:xfrm>
            <a:off x="3420000" y="5220000"/>
            <a:ext cx="32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5"/>
          <p:cNvSpPr>
            <a:spLocks noGrp="1"/>
          </p:cNvSpPr>
          <p:nvPr>
            <p:ph type="sldNum" idx="6"/>
          </p:nvPr>
        </p:nvSpPr>
        <p:spPr>
          <a:xfrm>
            <a:off x="738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24E1D4-CA13-47A9-A480-7523F78576D4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0071360" cy="71460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5" name=""/>
          <p:cNvSpPr/>
          <p:nvPr/>
        </p:nvSpPr>
        <p:spPr>
          <a:xfrm>
            <a:off x="3240" y="5040000"/>
            <a:ext cx="10071360" cy="62604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4600" cy="472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7"/>
          </p:nvPr>
        </p:nvSpPr>
        <p:spPr>
          <a:xfrm>
            <a:off x="36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8"/>
          </p:nvPr>
        </p:nvSpPr>
        <p:spPr>
          <a:xfrm>
            <a:off x="3420000" y="5220000"/>
            <a:ext cx="32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9"/>
          </p:nvPr>
        </p:nvSpPr>
        <p:spPr>
          <a:xfrm>
            <a:off x="7380000" y="5220000"/>
            <a:ext cx="2334600" cy="35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FB159AE-5A59-4FE9-AFA5-B7E997EBCDA2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Blue_Curve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"/>
          <p:cNvSpPr/>
          <p:nvPr/>
        </p:nvSpPr>
        <p:spPr>
          <a:xfrm flipH="1" flipV="1">
            <a:off x="-5040" y="4494960"/>
            <a:ext cx="10075320" cy="1165320"/>
          </a:xfrm>
          <a:prstGeom prst="flowChartDocumen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0" y="1620000"/>
            <a:ext cx="8995320" cy="107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360000" y="2880000"/>
            <a:ext cx="9355320" cy="161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19999"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0"/>
          </p:nvPr>
        </p:nvSpPr>
        <p:spPr>
          <a:xfrm>
            <a:off x="360000" y="5220000"/>
            <a:ext cx="23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1"/>
          </p:nvPr>
        </p:nvSpPr>
        <p:spPr>
          <a:xfrm>
            <a:off x="3420000" y="5220000"/>
            <a:ext cx="32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2"/>
          </p:nvPr>
        </p:nvSpPr>
        <p:spPr>
          <a:xfrm>
            <a:off x="7380000" y="5220000"/>
            <a:ext cx="23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8132CD-729D-4782-AB3C-9E7AD9ADFD07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Blue_Curve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"/>
          <p:cNvSpPr/>
          <p:nvPr/>
        </p:nvSpPr>
        <p:spPr>
          <a:xfrm>
            <a:off x="0" y="0"/>
            <a:ext cx="10072080" cy="71532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8" name=""/>
          <p:cNvSpPr/>
          <p:nvPr/>
        </p:nvSpPr>
        <p:spPr>
          <a:xfrm>
            <a:off x="3240" y="5040000"/>
            <a:ext cx="10072080" cy="626760"/>
          </a:xfrm>
          <a:prstGeom prst="rect">
            <a:avLst/>
          </a:prstGeom>
          <a:gradFill rotWithShape="0">
            <a:gsLst>
              <a:gs pos="0">
                <a:srgbClr val="77caee"/>
              </a:gs>
              <a:gs pos="1563">
                <a:srgbClr val="77caee"/>
              </a:gs>
              <a:gs pos="1563">
                <a:srgbClr val="75c9ee"/>
              </a:gs>
              <a:gs pos="3125">
                <a:srgbClr val="75c9ee"/>
              </a:gs>
              <a:gs pos="3125">
                <a:srgbClr val="73c9ed"/>
              </a:gs>
              <a:gs pos="4688">
                <a:srgbClr val="73c9ed"/>
              </a:gs>
              <a:gs pos="4688">
                <a:srgbClr val="71c8ed"/>
              </a:gs>
              <a:gs pos="6250">
                <a:srgbClr val="71c8ed"/>
              </a:gs>
              <a:gs pos="6250">
                <a:srgbClr val="6fc7ed"/>
              </a:gs>
              <a:gs pos="7813">
                <a:srgbClr val="6fc7ed"/>
              </a:gs>
              <a:gs pos="7813">
                <a:srgbClr val="6ec6ed"/>
              </a:gs>
              <a:gs pos="9375">
                <a:srgbClr val="6ec6ed"/>
              </a:gs>
              <a:gs pos="9375">
                <a:srgbClr val="6cc6ec"/>
              </a:gs>
              <a:gs pos="10938">
                <a:srgbClr val="6cc6ec"/>
              </a:gs>
              <a:gs pos="10938">
                <a:srgbClr val="6ac5ec"/>
              </a:gs>
              <a:gs pos="12500">
                <a:srgbClr val="6ac5ec"/>
              </a:gs>
              <a:gs pos="12500">
                <a:srgbClr val="68c4ec"/>
              </a:gs>
              <a:gs pos="14063">
                <a:srgbClr val="68c4ec"/>
              </a:gs>
              <a:gs pos="14063">
                <a:srgbClr val="66c3ec"/>
              </a:gs>
              <a:gs pos="15625">
                <a:srgbClr val="66c3ec"/>
              </a:gs>
              <a:gs pos="15625">
                <a:srgbClr val="64c3eb"/>
              </a:gs>
              <a:gs pos="17188">
                <a:srgbClr val="64c3eb"/>
              </a:gs>
              <a:gs pos="17188">
                <a:srgbClr val="62c2eb"/>
              </a:gs>
              <a:gs pos="18750">
                <a:srgbClr val="62c2eb"/>
              </a:gs>
              <a:gs pos="18750">
                <a:srgbClr val="60c1eb"/>
              </a:gs>
              <a:gs pos="20313">
                <a:srgbClr val="60c1eb"/>
              </a:gs>
              <a:gs pos="20313">
                <a:srgbClr val="5ec0ea"/>
              </a:gs>
              <a:gs pos="21875">
                <a:srgbClr val="5ec0ea"/>
              </a:gs>
              <a:gs pos="21875">
                <a:srgbClr val="5dc0ea"/>
              </a:gs>
              <a:gs pos="23438">
                <a:srgbClr val="5dc0ea"/>
              </a:gs>
              <a:gs pos="23438">
                <a:srgbClr val="5bbfea"/>
              </a:gs>
              <a:gs pos="25000">
                <a:srgbClr val="5bbfea"/>
              </a:gs>
              <a:gs pos="25000">
                <a:srgbClr val="59beea"/>
              </a:gs>
              <a:gs pos="26563">
                <a:srgbClr val="59beea"/>
              </a:gs>
              <a:gs pos="26563">
                <a:srgbClr val="57bde9"/>
              </a:gs>
              <a:gs pos="28125">
                <a:srgbClr val="57bde9"/>
              </a:gs>
              <a:gs pos="28125">
                <a:srgbClr val="55bde9"/>
              </a:gs>
              <a:gs pos="29688">
                <a:srgbClr val="55bde9"/>
              </a:gs>
              <a:gs pos="29688">
                <a:srgbClr val="53bce9"/>
              </a:gs>
              <a:gs pos="31250">
                <a:srgbClr val="53bce9"/>
              </a:gs>
              <a:gs pos="31250">
                <a:srgbClr val="51bbe9"/>
              </a:gs>
              <a:gs pos="32813">
                <a:srgbClr val="51bbe9"/>
              </a:gs>
              <a:gs pos="32813">
                <a:srgbClr val="4fbae8"/>
              </a:gs>
              <a:gs pos="34375">
                <a:srgbClr val="4fbae8"/>
              </a:gs>
              <a:gs pos="34375">
                <a:srgbClr val="4dbae8"/>
              </a:gs>
              <a:gs pos="35938">
                <a:srgbClr val="4dbae8"/>
              </a:gs>
              <a:gs pos="35938">
                <a:srgbClr val="4cb9e8"/>
              </a:gs>
              <a:gs pos="37500">
                <a:srgbClr val="4cb9e8"/>
              </a:gs>
              <a:gs pos="37500">
                <a:srgbClr val="4ab8e8"/>
              </a:gs>
              <a:gs pos="39063">
                <a:srgbClr val="4ab8e8"/>
              </a:gs>
              <a:gs pos="39063">
                <a:srgbClr val="48b7e7"/>
              </a:gs>
              <a:gs pos="40625">
                <a:srgbClr val="48b7e7"/>
              </a:gs>
              <a:gs pos="40625">
                <a:srgbClr val="46b7e7"/>
              </a:gs>
              <a:gs pos="42188">
                <a:srgbClr val="46b7e7"/>
              </a:gs>
              <a:gs pos="42188">
                <a:srgbClr val="44b6e7"/>
              </a:gs>
              <a:gs pos="43750">
                <a:srgbClr val="44b6e7"/>
              </a:gs>
              <a:gs pos="43750">
                <a:srgbClr val="42b5e6"/>
              </a:gs>
              <a:gs pos="45313">
                <a:srgbClr val="42b5e6"/>
              </a:gs>
              <a:gs pos="45313">
                <a:srgbClr val="40b4e6"/>
              </a:gs>
              <a:gs pos="46875">
                <a:srgbClr val="40b4e6"/>
              </a:gs>
              <a:gs pos="46875">
                <a:srgbClr val="3eb4e6"/>
              </a:gs>
              <a:gs pos="48438">
                <a:srgbClr val="3eb4e6"/>
              </a:gs>
              <a:gs pos="48438">
                <a:srgbClr val="3cb3e6"/>
              </a:gs>
              <a:gs pos="50000">
                <a:srgbClr val="3cb3e6"/>
              </a:gs>
              <a:gs pos="50000">
                <a:srgbClr val="3bb2e5"/>
              </a:gs>
              <a:gs pos="51563">
                <a:srgbClr val="3bb2e5"/>
              </a:gs>
              <a:gs pos="51563">
                <a:srgbClr val="39b1e5"/>
              </a:gs>
              <a:gs pos="53125">
                <a:srgbClr val="39b1e5"/>
              </a:gs>
              <a:gs pos="53125">
                <a:srgbClr val="37b1e5"/>
              </a:gs>
              <a:gs pos="54688">
                <a:srgbClr val="37b1e5"/>
              </a:gs>
              <a:gs pos="54688">
                <a:srgbClr val="35b0e5"/>
              </a:gs>
              <a:gs pos="56250">
                <a:srgbClr val="35b0e5"/>
              </a:gs>
              <a:gs pos="56250">
                <a:srgbClr val="33afe4"/>
              </a:gs>
              <a:gs pos="57813">
                <a:srgbClr val="33afe4"/>
              </a:gs>
              <a:gs pos="57813">
                <a:srgbClr val="31aee4"/>
              </a:gs>
              <a:gs pos="59375">
                <a:srgbClr val="31aee4"/>
              </a:gs>
              <a:gs pos="59375">
                <a:srgbClr val="2faee4"/>
              </a:gs>
              <a:gs pos="60938">
                <a:srgbClr val="2faee4"/>
              </a:gs>
              <a:gs pos="60938">
                <a:srgbClr val="2dade3"/>
              </a:gs>
              <a:gs pos="62500">
                <a:srgbClr val="2dade3"/>
              </a:gs>
              <a:gs pos="62500">
                <a:srgbClr val="2bace3"/>
              </a:gs>
              <a:gs pos="64063">
                <a:srgbClr val="2bace3"/>
              </a:gs>
              <a:gs pos="64063">
                <a:srgbClr val="2aabe3"/>
              </a:gs>
              <a:gs pos="65625">
                <a:srgbClr val="2aabe3"/>
              </a:gs>
              <a:gs pos="65625">
                <a:srgbClr val="28abe3"/>
              </a:gs>
              <a:gs pos="67188">
                <a:srgbClr val="28abe3"/>
              </a:gs>
              <a:gs pos="67188">
                <a:srgbClr val="26aae2"/>
              </a:gs>
              <a:gs pos="68750">
                <a:srgbClr val="26aae2"/>
              </a:gs>
              <a:gs pos="68750">
                <a:srgbClr val="24a9e2"/>
              </a:gs>
              <a:gs pos="70313">
                <a:srgbClr val="24a9e2"/>
              </a:gs>
              <a:gs pos="70313">
                <a:srgbClr val="22a8e2"/>
              </a:gs>
              <a:gs pos="71875">
                <a:srgbClr val="22a8e2"/>
              </a:gs>
              <a:gs pos="71875">
                <a:srgbClr val="20a8e2"/>
              </a:gs>
              <a:gs pos="73438">
                <a:srgbClr val="20a8e2"/>
              </a:gs>
              <a:gs pos="73438">
                <a:srgbClr val="1ea7e1"/>
              </a:gs>
              <a:gs pos="75000">
                <a:srgbClr val="1ea7e1"/>
              </a:gs>
              <a:gs pos="75000">
                <a:srgbClr val="1ca6e1"/>
              </a:gs>
              <a:gs pos="76563">
                <a:srgbClr val="1ca6e1"/>
              </a:gs>
              <a:gs pos="76563">
                <a:srgbClr val="1aa5e1"/>
              </a:gs>
              <a:gs pos="78125">
                <a:srgbClr val="1aa5e1"/>
              </a:gs>
              <a:gs pos="78125">
                <a:srgbClr val="19a5e1"/>
              </a:gs>
              <a:gs pos="79688">
                <a:srgbClr val="19a5e1"/>
              </a:gs>
              <a:gs pos="79688">
                <a:srgbClr val="17a4e0"/>
              </a:gs>
              <a:gs pos="81250">
                <a:srgbClr val="17a4e0"/>
              </a:gs>
              <a:gs pos="81250">
                <a:srgbClr val="15a3e0"/>
              </a:gs>
              <a:gs pos="82813">
                <a:srgbClr val="15a3e0"/>
              </a:gs>
              <a:gs pos="82813">
                <a:srgbClr val="13a2e0"/>
              </a:gs>
              <a:gs pos="84375">
                <a:srgbClr val="13a2e0"/>
              </a:gs>
              <a:gs pos="84375">
                <a:srgbClr val="11a2df"/>
              </a:gs>
              <a:gs pos="85938">
                <a:srgbClr val="11a2df"/>
              </a:gs>
              <a:gs pos="85938">
                <a:srgbClr val="0fa1df"/>
              </a:gs>
              <a:gs pos="87500">
                <a:srgbClr val="0fa1df"/>
              </a:gs>
              <a:gs pos="87500">
                <a:srgbClr val="0da0df"/>
              </a:gs>
              <a:gs pos="89063">
                <a:srgbClr val="0da0df"/>
              </a:gs>
              <a:gs pos="89063">
                <a:srgbClr val="0b9fdf"/>
              </a:gs>
              <a:gs pos="90625">
                <a:srgbClr val="0b9fdf"/>
              </a:gs>
              <a:gs pos="90625">
                <a:srgbClr val="099fde"/>
              </a:gs>
              <a:gs pos="92188">
                <a:srgbClr val="099fde"/>
              </a:gs>
              <a:gs pos="92188">
                <a:srgbClr val="089ede"/>
              </a:gs>
              <a:gs pos="93750">
                <a:srgbClr val="089ede"/>
              </a:gs>
              <a:gs pos="93750">
                <a:srgbClr val="069dde"/>
              </a:gs>
              <a:gs pos="95313">
                <a:srgbClr val="069dde"/>
              </a:gs>
              <a:gs pos="95313">
                <a:srgbClr val="049cde"/>
              </a:gs>
              <a:gs pos="96875">
                <a:srgbClr val="049cde"/>
              </a:gs>
              <a:gs pos="96875">
                <a:srgbClr val="029cdd"/>
              </a:gs>
              <a:gs pos="98438">
                <a:srgbClr val="029cdd"/>
              </a:gs>
              <a:gs pos="98438">
                <a:srgbClr val="009bdd"/>
              </a:gs>
              <a:gs pos="100000">
                <a:srgbClr val="009bdd"/>
              </a:gs>
            </a:gsLst>
            <a:lin ang="10800000"/>
          </a:gradFill>
          <a:ln w="18000">
            <a:noFill/>
          </a:ln>
          <a:effectLst>
            <a:outerShdw dir="5400000" dist="10800" rotWithShape="0">
              <a:srgbClr val="009bdd"/>
            </a:outerShdw>
          </a:effectLst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  <a:ea typeface="DejaVu Sans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60000" y="180000"/>
            <a:ext cx="9355320" cy="473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Click to edit the title text format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360000" y="1080000"/>
            <a:ext cx="9355320" cy="359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Click to edit the outline text format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85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1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Second Outline Level</a:t>
            </a:r>
            <a:endParaRPr lang="en-AU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635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Third Outline Level</a:t>
            </a:r>
            <a:endParaRPr lang="en-A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422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Fourth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Fifth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Sixth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1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15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Seventh Outline Level</a:t>
            </a:r>
            <a:endParaRPr lang="en-AU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dt" idx="13"/>
          </p:nvPr>
        </p:nvSpPr>
        <p:spPr>
          <a:xfrm>
            <a:off x="360000" y="5220000"/>
            <a:ext cx="23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&lt;date/time&gt;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ftr" idx="14"/>
          </p:nvPr>
        </p:nvSpPr>
        <p:spPr>
          <a:xfrm>
            <a:off x="3420000" y="5220000"/>
            <a:ext cx="32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&lt;footer&gt;</a:t>
            </a:r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sldNum" idx="15"/>
          </p:nvPr>
        </p:nvSpPr>
        <p:spPr>
          <a:xfrm>
            <a:off x="7380000" y="5220000"/>
            <a:ext cx="2335320" cy="35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0F2E02-4A4B-4D1A-91A5-3FD8FBBEBFF0}" type="slidenum">
              <a:rPr lang="en-AU" sz="14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&lt;number&gt;</a:t>
            </a:fld>
            <a:endParaRPr lang="en-A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  <p:sldLayoutId id="2147483654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hyperlink" Target="https://github.com/DarlowieTechnology/a_bridge_too_far" TargetMode="External"/><Relationship Id="rId2" Type="http://schemas.openxmlformats.org/officeDocument/2006/relationships/slideLayout" Target="../slideLayouts/slideLayout3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0" y="1614600"/>
            <a:ext cx="8994600" cy="1085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Workflow Optimisation Project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Introduction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LLMs is an opportunity to improve productivity.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Productivity requires new workflows.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Private enterprise data is the difference in the market.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Make sense to focus on workflows related to private data.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B968249C-A995-4FC7-80AE-B876843687D6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Relevant Quote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4" name=""/>
          <p:cNvPicPr/>
          <p:nvPr/>
        </p:nvPicPr>
        <p:blipFill>
          <a:blip r:embed="rId1"/>
          <a:stretch/>
        </p:blipFill>
        <p:spPr>
          <a:xfrm>
            <a:off x="2311920" y="995400"/>
            <a:ext cx="5465520" cy="3693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B6155F3-9123-4E01-BD37-89CCA087BA2D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Example Case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Proof of Concept use private and public data.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Private data – collection of documents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Public data – general data used for training LLM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03CF68D-5622-4A26-B512-785A169F91D5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Technologies of Machine Learning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Machine learning in enterprise settings should focus on private data.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There are two major ways to implement ML: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RAG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Microsoft YaHei"/>
              </a:rPr>
              <a:t>LLM Tuning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9E8C1CD-F5FE-48F8-8530-5CFFFC2925E1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Retrieval-Augmented Generation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advantages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Data manipulation portable between LLM providers. 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Initial step for LLM tuning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Conversion of documents to structured data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disadvantages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Low performance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Low precision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22602AF0-B2DC-456A-A34B-BE5BAE949EC7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LLM Tuning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Tuning advantages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High performance 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High precision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Tuning disadvantages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Tuning expense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4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Periodic re-tuning required</a:t>
            </a: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748A8E0-B5C1-4DEE-9BE6-E1AF4361D9D3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Summary: RAG as an Entry Point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solution as an entry to LLM workflows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allows to convert unstructured data to structured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allows to implement effective authorisation mechanism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RAG allows to verify quality of data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679E938-8523-4F38-85EC-EA9F0C452303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Pydantic Agent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Agentic AI Library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Supports OpenAI, Google, Ollama and others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Strong types based on JSON schema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Wraps iterative LLM calls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Serves as the foundation of many LLM SDKs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BBDBDCE-2827-4607-ADEA-B96708D7F50B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Architecture Summary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Example app is a hybrid architecture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Cloud-based LLM accessed via REST API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Local vector database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Dual use web apps and command line scripts 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5A3C5ED-A489-4816-891A-A832AAAA5022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Source Code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060"/>
              </a:spcBef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Public repository on GitHub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00ee"/>
                </a:solidFill>
                <a:effectLst/>
                <a:uFillTx/>
                <a:latin typeface="Arial"/>
                <a:hlinkClick r:id="rId1"/>
              </a:rPr>
              <a:t>github.com/DarlowieTechnology/a_bridge_too_far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Python, Pydantic, Django, ChromaDB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4 applications (generator, indexer, query, discovery)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>
              <a:lnSpc>
                <a:spcPct val="100000"/>
              </a:lnSpc>
              <a:spcBef>
                <a:spcPts val="1060"/>
              </a:spcBef>
              <a:buNone/>
              <a:tabLst>
                <a:tab algn="l" pos="0"/>
              </a:tabLst>
            </a:pPr>
            <a:endParaRPr lang="en-A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29C4831-17FA-4BB6-AC21-28476312DA88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0" y="1615320"/>
            <a:ext cx="899532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Hardware Platform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MINISFORUM MS-S1 Max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AMD Ryzen™ AI Max+ 395 Platform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CPU: Ryzen AI Max 300, 3.00 GHz,  16 / 32 cores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GPU: Radeon 8060S 2 GB with additional 96 GB RAM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16 GB general use RAM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16 GB shared RAM (GPU and NPU)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59851FB4-641D-450F-922F-45FF9FD6EF7A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Baseline: Dell Precision 7530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General-purpose Intel-based workstation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CPU: Intel i7-9750H, 2.60 GHz, 6 / 12 cores 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GPU: NVidia Quadro T1000 4 GB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64 GB general RAM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0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35.9 GB shared RAM (GPU)</a:t>
            </a:r>
            <a:endParaRPr lang="en-A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A2CA5A1-B1CE-4911-A91D-4A17023E8E01}" type="slidenum">
              <a:t>14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Benchmarks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2"/>
          <p:cNvSpPr>
            <a:spLocks noGrp="1"/>
          </p:cNvSpPr>
          <p:nvPr>
            <p:ph/>
          </p:nvPr>
        </p:nvSpPr>
        <p:spPr>
          <a:xfrm>
            <a:off x="360000" y="1080000"/>
            <a:ext cx="9354600" cy="3594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432000" indent="-324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77caee"/>
              </a:buClr>
              <a:buSzPct val="45000"/>
              <a:buFont typeface="Wingdings" charset="2"/>
              <a:buChar char="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MLPerf Client v1.5 on Windows 11 Pro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Llama 3.1 8B Instruct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</a:rPr>
              <a:t>Phi 3.5 Mini Instruct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64B7BCDA-F555-49ED-A0E9-45DEE206486B}" type="slidenum">
              <a:t>15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MLPerf Results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69" name=""/>
          <p:cNvGraphicFramePr/>
          <p:nvPr/>
        </p:nvGraphicFramePr>
        <p:xfrm>
          <a:off x="382320" y="1374120"/>
          <a:ext cx="9430560" cy="2909160"/>
        </p:xfrm>
        <a:graphic>
          <a:graphicData uri="http://schemas.openxmlformats.org/drawingml/2006/table">
            <a:tbl>
              <a:tblPr/>
              <a:tblGrid>
                <a:gridCol w="3142800"/>
                <a:gridCol w="2143440"/>
                <a:gridCol w="4144680"/>
              </a:tblGrid>
              <a:tr h="6285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Benchmark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Dell Precision 7530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Minisforum MS-S1 Max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103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Llama 3.1 8B Instruct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89880">
                <a:tc>
                  <a:txBody>
                    <a:bodyPr lIns="36000" r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 to First Token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38.99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1.21 (3222% better)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3320">
                <a:tc>
                  <a:txBody>
                    <a:bodyPr lIns="36000" r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Tokens per Second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3.4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37.5 (1102% better)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332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Phi 3.5 Mini Instruct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49920">
                <a:tc>
                  <a:txBody>
                    <a:bodyPr lIns="36000" r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Time to First Token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19.02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2.09 (910% better)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11840">
                <a:tc>
                  <a:txBody>
                    <a:bodyPr lIns="36000" rIns="36000" anchor="t">
                      <a:noAutofit/>
                    </a:bodyPr>
                    <a:p>
                      <a:pPr algn="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Tokens per Second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25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25.4 (2% worse)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4602A5D7-B0FD-4CC6-A2F3-8968049111B0}" type="slidenum">
              <a:t>16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0" y="1615320"/>
            <a:ext cx="899532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LLM Host Evaluation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  <a:ea typeface="Microsoft YaHei"/>
              </a:rPr>
              <a:t>LLM Host Comparison on MS-S1 Max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2" name=""/>
          <p:cNvGraphicFramePr/>
          <p:nvPr/>
        </p:nvGraphicFramePr>
        <p:xfrm>
          <a:off x="334080" y="940680"/>
          <a:ext cx="9462600" cy="3285720"/>
        </p:xfrm>
        <a:graphic>
          <a:graphicData uri="http://schemas.openxmlformats.org/drawingml/2006/table">
            <a:tbl>
              <a:tblPr/>
              <a:tblGrid>
                <a:gridCol w="1576080"/>
                <a:gridCol w="803520"/>
                <a:gridCol w="1344960"/>
                <a:gridCol w="1166400"/>
                <a:gridCol w="1718280"/>
                <a:gridCol w="2853720"/>
              </a:tblGrid>
              <a:tr h="7894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Host Name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 /Cloud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Usage Restrictions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Access to Models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GPU Support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Performance on test data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894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Ollama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Limited by hardware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 support for AMD Radeon 8060S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40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8948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LM Studio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No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Limited by hardware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10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9200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Cloud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Yes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Unlimited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N/A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4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AE4FD9B3-00FE-4DF5-ADA6-AB21658FBCD1}" type="slidenum">
              <a:t>18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0" y="1615320"/>
            <a:ext cx="899532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LLM Evaluation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360000" y="162720"/>
            <a:ext cx="9354600" cy="507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LLM Evaluated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75" name=""/>
          <p:cNvGraphicFramePr/>
          <p:nvPr/>
        </p:nvGraphicFramePr>
        <p:xfrm>
          <a:off x="1241280" y="948600"/>
          <a:ext cx="7558200" cy="3963600"/>
        </p:xfrm>
        <a:graphic>
          <a:graphicData uri="http://schemas.openxmlformats.org/drawingml/2006/table">
            <a:tbl>
              <a:tblPr/>
              <a:tblGrid>
                <a:gridCol w="1889640"/>
                <a:gridCol w="1889640"/>
                <a:gridCol w="1889640"/>
                <a:gridCol w="1889640"/>
              </a:tblGrid>
              <a:tr h="7923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Host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Provider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Name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Performance on test data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923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OpenAI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gpt-oss-120B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9.9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923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OpenAI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gpt-oss-20B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9.6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923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Local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Meta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Llama 3.3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18.5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94160"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Cloud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Google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Gemini 3.1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en-AU" sz="18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rPr>
                        <a:t>3.6 sec</a:t>
                      </a:r>
                      <a:endParaRPr lang="en-A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36000" marR="36000" marT="45720" marB="4572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EE7E1A66-D7B9-4129-98D9-A289B3D9F325}" type="slidenum">
              <a:t>20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0" y="1615320"/>
            <a:ext cx="899532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Indexer Application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360000" y="163440"/>
            <a:ext cx="9355320" cy="506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High-Level Indexer Service Design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8" name=""/>
          <p:cNvPicPr/>
          <p:nvPr/>
        </p:nvPicPr>
        <p:blipFill>
          <a:blip r:embed="rId1"/>
          <a:stretch/>
        </p:blipFill>
        <p:spPr>
          <a:xfrm>
            <a:off x="628200" y="973800"/>
            <a:ext cx="8844840" cy="3729240"/>
          </a:xfrm>
          <a:prstGeom prst="rect">
            <a:avLst/>
          </a:prstGeom>
          <a:noFill/>
          <a:ln w="180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00FB5E5B-4A33-413D-9CFF-CE71F6D00688}" type="slidenum">
              <a:t>22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laceHolder 1"/>
          <p:cNvSpPr>
            <a:spLocks noGrp="1"/>
          </p:cNvSpPr>
          <p:nvPr>
            <p:ph type="title"/>
          </p:nvPr>
        </p:nvSpPr>
        <p:spPr>
          <a:xfrm>
            <a:off x="360000" y="163440"/>
            <a:ext cx="9355320" cy="506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Indexer Output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0" name=""/>
          <p:cNvPicPr/>
          <p:nvPr/>
        </p:nvPicPr>
        <p:blipFill>
          <a:blip r:embed="rId1"/>
          <a:stretch/>
        </p:blipFill>
        <p:spPr>
          <a:xfrm>
            <a:off x="39600" y="871920"/>
            <a:ext cx="10077120" cy="3952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6F5EC07C-615F-460F-8598-DE4D54B33E13}" type="slidenum">
              <a:t>23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PlaceHolder 1"/>
          <p:cNvSpPr>
            <a:spLocks noGrp="1"/>
          </p:cNvSpPr>
          <p:nvPr>
            <p:ph type="title"/>
          </p:nvPr>
        </p:nvSpPr>
        <p:spPr>
          <a:xfrm>
            <a:off x="360000" y="163440"/>
            <a:ext cx="9355320" cy="50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Hybrid Architecture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2" name=""/>
          <p:cNvPicPr/>
          <p:nvPr/>
        </p:nvPicPr>
        <p:blipFill>
          <a:blip r:embed="rId1"/>
          <a:stretch/>
        </p:blipFill>
        <p:spPr>
          <a:xfrm>
            <a:off x="1186920" y="1283400"/>
            <a:ext cx="7693200" cy="3092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4F617AA-ED0D-4E40-9E1D-01BB5F695A0E}" type="slidenum">
              <a:t>24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0" y="1615680"/>
            <a:ext cx="8995680" cy="1084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dd4100"/>
                </a:solidFill>
                <a:effectLst/>
                <a:uFillTx/>
                <a:latin typeface="Arial"/>
              </a:rPr>
              <a:t>Query Application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PlaceHolder 1"/>
          <p:cNvSpPr>
            <a:spLocks noGrp="1"/>
          </p:cNvSpPr>
          <p:nvPr>
            <p:ph type="title"/>
          </p:nvPr>
        </p:nvSpPr>
        <p:spPr>
          <a:xfrm>
            <a:off x="360000" y="163800"/>
            <a:ext cx="9355680" cy="506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High-Level Query App Design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5" name=""/>
          <p:cNvPicPr/>
          <p:nvPr/>
        </p:nvPicPr>
        <p:blipFill>
          <a:blip r:embed="rId1"/>
          <a:stretch/>
        </p:blipFill>
        <p:spPr>
          <a:xfrm>
            <a:off x="1653480" y="1407240"/>
            <a:ext cx="6759720" cy="2844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2184514F-5D90-45D9-A268-318BB4CCE602}" type="slidenum">
              <a:t>26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360000" y="163800"/>
            <a:ext cx="9355680" cy="506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Query RAG Query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7" name=""/>
          <p:cNvPicPr/>
          <p:nvPr/>
        </p:nvPicPr>
        <p:blipFill>
          <a:blip r:embed="rId1"/>
          <a:stretch/>
        </p:blipFill>
        <p:spPr>
          <a:xfrm>
            <a:off x="39600" y="1434600"/>
            <a:ext cx="10077120" cy="4524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9BCA44EB-7F0D-4E91-BD5B-2B19BE3FFC65}" type="slidenum">
              <a:t>27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360000" y="163800"/>
            <a:ext cx="9355680" cy="506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9" name=""/>
          <p:cNvPicPr/>
          <p:nvPr/>
        </p:nvPicPr>
        <p:blipFill>
          <a:blip r:embed="rId1"/>
          <a:stretch/>
        </p:blipFill>
        <p:spPr>
          <a:xfrm>
            <a:off x="39600" y="1571760"/>
            <a:ext cx="10077120" cy="2552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B06F77AE-D42B-4A90-B48B-BE712F8D704B}" type="slidenum">
              <a:t>28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360000" y="163800"/>
            <a:ext cx="9355680" cy="506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Query Final Query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1" name=""/>
          <p:cNvPicPr/>
          <p:nvPr/>
        </p:nvPicPr>
        <p:blipFill>
          <a:blip r:embed="rId1"/>
          <a:stretch/>
        </p:blipFill>
        <p:spPr>
          <a:xfrm>
            <a:off x="39600" y="1403640"/>
            <a:ext cx="10077120" cy="3743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5686D45-CE24-4FC3-A348-419E719274A7}" type="slidenum">
              <a:t>29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360000" y="163800"/>
            <a:ext cx="9355680" cy="506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AU" sz="3300" b="0" u="none" strike="noStrike">
                <a:solidFill>
                  <a:srgbClr val="eeeeee"/>
                </a:solidFill>
                <a:effectLst/>
                <a:uFillTx/>
                <a:latin typeface="Arial"/>
              </a:rPr>
              <a:t>Query Semantic Search</a:t>
            </a:r>
            <a:endParaRPr lang="en-AU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"/>
          <p:cNvSpPr/>
          <p:nvPr/>
        </p:nvSpPr>
        <p:spPr>
          <a:xfrm>
            <a:off x="315720" y="878040"/>
            <a:ext cx="9527400" cy="38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Query “</a:t>
            </a:r>
            <a:r>
              <a:rPr lang="en-AU" sz="3200" b="0" i="1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XSS issues</a:t>
            </a: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”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Semantic search returns: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A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AU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The installed version of Jenkins server was affected by a number of security vulnerabilities. Known vulnerabilities included CSRF and </a:t>
            </a:r>
            <a:r>
              <a:rPr lang="en-AU" sz="3200" b="1" i="1" u="sng" strike="noStrike">
                <a:solidFill>
                  <a:srgbClr val="000000"/>
                </a:solidFill>
                <a:effectLst/>
                <a:highlight>
                  <a:srgbClr val="ffffff"/>
                </a:highlight>
                <a:uFillTx/>
                <a:latin typeface="Arial"/>
                <a:ea typeface="DejaVu Sans"/>
              </a:rPr>
              <a:t>XSS</a:t>
            </a:r>
            <a:r>
              <a:rPr lang="en-AU" sz="3200" b="0" i="1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weaknesses.</a:t>
            </a:r>
            <a:r>
              <a:rPr lang="en-AU" sz="32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r>
              <a:rPr lang="en-AU" sz="2800" b="0" u="none" strike="noStrike">
                <a:solidFill>
                  <a:srgbClr val="009bdd"/>
                </a:solidFill>
                <a:effectLst/>
                <a:uFillTx/>
                <a:latin typeface="Arial"/>
                <a:ea typeface="DejaVu Sans"/>
              </a:rPr>
              <a:t> </a:t>
            </a:r>
            <a:endParaRPr lang="en-A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74BB6049-D137-4F7E-AD66-7CD0B0D3BED0}" type="slidenum">
              <a:t>30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1045</TotalTime>
  <Application>LibreOffice/25.8.5.2$Windows_X86_64 LibreOffice_project/9c8b85f387cc00a89945a79c9e6239f32e450ac2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2025-10-19T09:40:00Z</dcterms:created>
  <dc:creator/>
  <dc:description>This work is licensed under a Creative Commons 0 License.
It makes use of the works of kka_libo_design@ashisuto.co.jp.</dc:description>
  <dc:language>en-AU</dc:language>
  <cp:lastModifiedBy/>
  <dcterms:modified xsi:type="dcterms:W3CDTF">2026-03-14T10:45:15Z</dcterms:modified>
  <cp:revision>105</cp:revision>
  <dc:subject/>
  <dc:title>Blue Curve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