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4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6.xml" ContentType="application/vnd.openxmlformats-officedocument.them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9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4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A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A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notes' format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1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1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93ACA19-47FE-4EE3-85CC-B2B156D547FE}" type="slidenum">
              <a: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Large Language Models allow to replace mundane text generation with automation. This can lead to reduction in labour expenses and increase in profitability.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Incorporating LLMs require changes in business process.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Every company have access to LLMs trained on public data. Therefore, the knowledge of public data is not a competitive advantage. Only private data gives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Investing in LLM workflows should focus on using private data. This gives biggest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More context – what we try to automate. – context of security work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 the example application we combine private and public data. 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Private data is collected from penetration test reports conducted on the enterprise network and applications. Results recorded in the reports are confidential to the organisation.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Public data is the PCI DSS standard. This standard is a part of public domain. As a result, generally available LLMs are trained on this document.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When the company decides to use LLM in business, it should decide how to incorporate private data in the machine.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 will briefly describe the methods to deliver private data in the machine.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6560" cy="4008600"/>
          </a:xfrm>
          <a:prstGeom prst="rect">
            <a:avLst/>
          </a:prstGeom>
          <a:ln w="0">
            <a:noFill/>
          </a:ln>
        </p:spPr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RAG keeps private data separate from the machine in the database.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Such database has to be created and maintained by the organisation.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Part of the example application called Indexer creates and maintains RAG database.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Note that the steps required to created RAG solution can be reused in Tuning solution. 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6560" cy="4008600"/>
          </a:xfrm>
          <a:prstGeom prst="rect">
            <a:avLst/>
          </a:prstGeom>
          <a:ln w="0">
            <a:noFill/>
          </a:ln>
        </p:spPr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Tuning process incorporates private data into LLM decision making. 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This method depends on the quality of data supplied.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Note that RAG solution can be used to verify quality of data before deployment of Tuning solution. 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6560" cy="4008600"/>
          </a:xfrm>
          <a:prstGeom prst="rect">
            <a:avLst/>
          </a:prstGeom>
          <a:ln w="0">
            <a:noFill/>
          </a:ln>
        </p:spPr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 believe that organisations entering ML can benefit from gradual introduction.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RAG allows to introduce ML at a cost lower that Tuning.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6560" cy="4008600"/>
          </a:xfrm>
          <a:prstGeom prst="rect">
            <a:avLst/>
          </a:prstGeom>
          <a:ln w="0">
            <a:noFill/>
          </a:ln>
        </p:spPr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 use Pydantic development library to create our ML applications.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 believe that Pydantic provides the balance of features and portability across major ML platforms.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Investing in Pydantic Agent solution reduces the risk of obsolete technology.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6560" cy="4008600"/>
          </a:xfrm>
          <a:prstGeom prst="rect">
            <a:avLst/>
          </a:prstGeom>
          <a:ln w="0">
            <a:noFill/>
          </a:ln>
        </p:spPr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Our example application stores RAG database separately from Cloud LLM.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This allows full control of private data.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 can use the apps with Web interface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Or we can run apps as service scripts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Operator extracts private data from unstructured documents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Operator monitors quality of data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Operator is a privileged role with access to all the data.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Dual use Indexer app executed as command line script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Calls to Cloud deployed Gemini LLM consume tokens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Call to local RAG database do not consume tokens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6560" cy="4008600"/>
          </a:xfrm>
          <a:prstGeom prst="rect">
            <a:avLst/>
          </a:prstGeom>
          <a:ln w="0">
            <a:noFill/>
          </a:ln>
        </p:spPr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Hybrid architecture allows flexibility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Where the database is stored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Where the application itself is deployed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What LLM host service is used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All of these components can be configured to minimise operational expenses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Query application uses RAG database and cloud deployed LLM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Cloud access via REST API specific to the LLM provider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Answer is generated in two steps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1. RAG database query to select private data set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2. Combine initial query with RAG data in the final LLM query.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9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Original query is XSS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RAG database is queried for list of synonyms 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Returns from RAG queries create context for the final call to general LLM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Final query to general LLM asks about PCI DSS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RAG query result is incorporated as a structured input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10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reply from general LLM incorporates: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private data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public data in the form of PCI DSS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"/>
          <p:cNvSpPr/>
          <p:nvPr/>
        </p:nvSpPr>
        <p:spPr>
          <a:xfrm flipH="1" flipV="1">
            <a:off x="-2880" y="4497120"/>
            <a:ext cx="10077480" cy="116748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8997480" cy="107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57480" cy="161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en-A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dt" idx="1"/>
          </p:nvPr>
        </p:nvSpPr>
        <p:spPr>
          <a:xfrm>
            <a:off x="360000" y="5220000"/>
            <a:ext cx="2337480" cy="35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ftr" idx="2"/>
          </p:nvPr>
        </p:nvSpPr>
        <p:spPr>
          <a:xfrm>
            <a:off x="3420000" y="5220000"/>
            <a:ext cx="3237480" cy="35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sldNum" idx="3"/>
          </p:nvPr>
        </p:nvSpPr>
        <p:spPr>
          <a:xfrm>
            <a:off x="7380000" y="5220000"/>
            <a:ext cx="2337480" cy="35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6901EF-EDE9-4027-BE74-0B75CD7D0CB4}" type="slidenum"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 flipH="1" flipV="1">
            <a:off x="-2880" y="4497120"/>
            <a:ext cx="10077480" cy="116748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8997480" cy="107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57480" cy="161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en-A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360000" y="5220000"/>
            <a:ext cx="2337480" cy="35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420000" y="5220000"/>
            <a:ext cx="3237480" cy="35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7380000" y="5220000"/>
            <a:ext cx="2337480" cy="35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6C6D004-4028-4646-9331-623751A79A19}" type="slidenum"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ue_Curv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0074240" cy="71748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" name=""/>
          <p:cNvSpPr/>
          <p:nvPr/>
        </p:nvSpPr>
        <p:spPr>
          <a:xfrm>
            <a:off x="3240" y="5040000"/>
            <a:ext cx="10074240" cy="62892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57480" cy="47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360000" y="1080000"/>
            <a:ext cx="935748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en-A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7"/>
          </p:nvPr>
        </p:nvSpPr>
        <p:spPr>
          <a:xfrm>
            <a:off x="360000" y="5220000"/>
            <a:ext cx="2337480" cy="35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8"/>
          </p:nvPr>
        </p:nvSpPr>
        <p:spPr>
          <a:xfrm>
            <a:off x="3420000" y="5220000"/>
            <a:ext cx="3237480" cy="35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9"/>
          </p:nvPr>
        </p:nvSpPr>
        <p:spPr>
          <a:xfrm>
            <a:off x="7380000" y="5220000"/>
            <a:ext cx="2337480" cy="35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46446E5-3CF5-43EE-8A87-28E606602EA9}" type="slidenum"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Blue_Curv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 flipH="1" flipV="1">
            <a:off x="-2160" y="4497840"/>
            <a:ext cx="10078200" cy="116820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8998200" cy="107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58200" cy="161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en-A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0"/>
          </p:nvPr>
        </p:nvSpPr>
        <p:spPr>
          <a:xfrm>
            <a:off x="360000" y="5220000"/>
            <a:ext cx="2338200" cy="35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ftr" idx="11"/>
          </p:nvPr>
        </p:nvSpPr>
        <p:spPr>
          <a:xfrm>
            <a:off x="3420000" y="5220000"/>
            <a:ext cx="3238200" cy="35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12"/>
          </p:nvPr>
        </p:nvSpPr>
        <p:spPr>
          <a:xfrm>
            <a:off x="7380000" y="5220000"/>
            <a:ext cx="2338200" cy="35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9A7F4A-ABE3-465A-AC98-3E03DF6F1621}" type="slidenum"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ue_Curve1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0" y="0"/>
            <a:ext cx="10074960" cy="71820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" name=""/>
          <p:cNvSpPr/>
          <p:nvPr/>
        </p:nvSpPr>
        <p:spPr>
          <a:xfrm>
            <a:off x="3240" y="5040000"/>
            <a:ext cx="10074960" cy="62964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58200" cy="476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360000" y="1080000"/>
            <a:ext cx="935820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en-A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3"/>
          </p:nvPr>
        </p:nvSpPr>
        <p:spPr>
          <a:xfrm>
            <a:off x="360000" y="5220000"/>
            <a:ext cx="2338200" cy="35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4"/>
          </p:nvPr>
        </p:nvSpPr>
        <p:spPr>
          <a:xfrm>
            <a:off x="3420000" y="5220000"/>
            <a:ext cx="3238200" cy="35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5"/>
          </p:nvPr>
        </p:nvSpPr>
        <p:spPr>
          <a:xfrm>
            <a:off x="7380000" y="5220000"/>
            <a:ext cx="2338200" cy="35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85F3B4D-37B5-4A31-9EF6-CD0AA9EE5D8C}" type="slidenum"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  <p:sldLayoutId id="2147483654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github.com/DarlowieTechnology/a_bridge_too_far" TargetMode="External"/><Relationship Id="rId2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0" y="1617480"/>
            <a:ext cx="8997480" cy="108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Workflow Optimisation Project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60000" y="165600"/>
            <a:ext cx="9357480" cy="504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Introduction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748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LLMs is an opportunity to improve productivity.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Productivity requires new workflows.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Private enterprise data is the difference in the market.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Make sense to focus on workflows related to private data.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46911A0-BAFA-47D4-9481-E4F2430A1C66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360000" y="165600"/>
            <a:ext cx="9357480" cy="504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Example Case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748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Proof of Concept use private and public data.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Private data – reports of penetration tests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Public data – PCI DSS Cyber Security Framework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45FB548-9875-48D4-B867-7AA13B8F6986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360000" y="165600"/>
            <a:ext cx="9357480" cy="504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Technologies of Machine Learning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748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Machine learning in enterprise settings should focus on private data.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There are two major ways to implement ML: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RAG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LLM Tuning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E7AF3F3-8C9D-4954-A4E4-B479289EE4AF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360000" y="165600"/>
            <a:ext cx="9357480" cy="504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Retrieval-Augmented Generation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748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RAG advantages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Data manipulation portable between LLM providers. 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Initial step for LLM tuning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Conversion of documents to structured data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RAG disadvantages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Low performance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Low precision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44DE52A-DD6A-465C-9C79-C36AA75437E8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60000" y="165600"/>
            <a:ext cx="9357480" cy="504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LLM Tuning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748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Tuning advantages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High performance 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High precision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Tuning disadvantages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Tuning expense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Periodic re-tuning required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18E39A3-2588-4E6F-B44A-E56539DF1C03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360000" y="165600"/>
            <a:ext cx="9357480" cy="504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Summary: RAG as an Entry Point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748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RAG solution as an entry to LLM workflows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RAG allows to convert unstructured data to structured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RAG allows to implement effective authorisation mechanism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RAG allows to verify quality of data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F338A68-03B0-4C7B-9FE1-F494A80E59FD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360000" y="165600"/>
            <a:ext cx="9357480" cy="504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Pydantic Agent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748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Best of Agentic AI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Portable across all major LLM providers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Types based on JSON schema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Wraps iterative LLM calls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Serves as the foundation of many LLM SDKs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D0BCB79-193E-40EA-9529-D18BA90F7750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360000" y="165600"/>
            <a:ext cx="9357480" cy="504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Architecture Summary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748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Example app is a hybrid architecture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Cloud-based LLM accessed via REST API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Local vector database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Dual use web apps and command line scripts 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C7F6FC8-7BF6-47DE-AE12-855F17E519BC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360000" y="165600"/>
            <a:ext cx="9357480" cy="504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Source Code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748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Public repository on GitHub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00ee"/>
                </a:solidFill>
                <a:effectLst/>
                <a:uFillTx/>
                <a:latin typeface="Arial"/>
                <a:hlinkClick r:id="rId1"/>
              </a:rPr>
              <a:t>github.com/DarlowieTechnology/a_bridge_too_far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Python, Pydantic, Django, ChromaDB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3 web applications (generator, indexer, query)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5F54251-D99E-45D6-ABCD-C2A839C91532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0" y="1618200"/>
            <a:ext cx="8998200" cy="10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Indexer Application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360000" y="166320"/>
            <a:ext cx="9358200" cy="50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High-Level Indexer Service Design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" descr=""/>
          <p:cNvPicPr/>
          <p:nvPr/>
        </p:nvPicPr>
        <p:blipFill>
          <a:blip r:embed="rId1"/>
          <a:stretch/>
        </p:blipFill>
        <p:spPr>
          <a:xfrm>
            <a:off x="628200" y="973800"/>
            <a:ext cx="8847720" cy="373212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AFE83105-156B-4531-AE5C-C053D0254BCD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360000" y="166320"/>
            <a:ext cx="9358200" cy="50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Indexer Output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" name="" descr=""/>
          <p:cNvPicPr/>
          <p:nvPr/>
        </p:nvPicPr>
        <p:blipFill>
          <a:blip r:embed="rId1"/>
          <a:stretch/>
        </p:blipFill>
        <p:spPr>
          <a:xfrm>
            <a:off x="39600" y="871920"/>
            <a:ext cx="10080000" cy="39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AA9D3F44-9F4A-48FA-92CA-8B951CC7C8F2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360000" y="166320"/>
            <a:ext cx="9358200" cy="50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Hybrid Architecture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" descr=""/>
          <p:cNvPicPr/>
          <p:nvPr/>
        </p:nvPicPr>
        <p:blipFill>
          <a:blip r:embed="rId1"/>
          <a:stretch/>
        </p:blipFill>
        <p:spPr>
          <a:xfrm>
            <a:off x="1186920" y="1283400"/>
            <a:ext cx="7696080" cy="309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65904EB1-9824-470A-81D0-06E8990C74B2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0" y="1618560"/>
            <a:ext cx="8998560" cy="108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Query Application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360000" y="166680"/>
            <a:ext cx="9358560" cy="50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High-Level Query App Design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" descr=""/>
          <p:cNvPicPr/>
          <p:nvPr/>
        </p:nvPicPr>
        <p:blipFill>
          <a:blip r:embed="rId1"/>
          <a:stretch/>
        </p:blipFill>
        <p:spPr>
          <a:xfrm>
            <a:off x="1653480" y="1407240"/>
            <a:ext cx="6762600" cy="284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71590340-BF5A-488B-B3F0-51E43D48313A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360000" y="166680"/>
            <a:ext cx="9358560" cy="50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Query RAG Query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" descr=""/>
          <p:cNvPicPr/>
          <p:nvPr/>
        </p:nvPicPr>
        <p:blipFill>
          <a:blip r:embed="rId1"/>
          <a:stretch/>
        </p:blipFill>
        <p:spPr>
          <a:xfrm>
            <a:off x="39600" y="1434600"/>
            <a:ext cx="10080000" cy="452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A3834D5C-271F-4606-A688-DF3B32C3ADD5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360000" y="166680"/>
            <a:ext cx="9358560" cy="50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Query Final Query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" name="" descr=""/>
          <p:cNvPicPr/>
          <p:nvPr/>
        </p:nvPicPr>
        <p:blipFill>
          <a:blip r:embed="rId1"/>
          <a:stretch/>
        </p:blipFill>
        <p:spPr>
          <a:xfrm>
            <a:off x="39600" y="1571760"/>
            <a:ext cx="10080000" cy="255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D830E807-65B5-47CC-8C6E-B00EF9E7DDB6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360000" y="166680"/>
            <a:ext cx="9358560" cy="50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Query Final Query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" descr=""/>
          <p:cNvPicPr/>
          <p:nvPr/>
        </p:nvPicPr>
        <p:blipFill>
          <a:blip r:embed="rId1"/>
          <a:stretch/>
        </p:blipFill>
        <p:spPr>
          <a:xfrm>
            <a:off x="39600" y="1403640"/>
            <a:ext cx="10080000" cy="374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2E31F7C3-6FB9-484C-AA23-821A2D8CE897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341</TotalTime>
  <Application>LibreOffice/25.2.6.2$Windows_X86_64 LibreOffice_project/729c5bfe710f5eb71ed3bbde9e06a6065e9c6c5d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2025-10-19T09:40:00Z</dcterms:created>
  <dc:creator/>
  <dc:description>This work is licensed under a Creative Commons 0 License.
It makes use of the works of kka_libo_design@ashisuto.co.jp.</dc:description>
  <dc:language>en-AU</dc:language>
  <cp:lastModifiedBy/>
  <dcterms:modified xsi:type="dcterms:W3CDTF">2025-11-26T13:48:36Z</dcterms:modified>
  <cp:revision>57</cp:revision>
  <dc:subject/>
  <dc:title>Blue Curve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