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4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6.xml" ContentType="application/vnd.openxmlformats-officedocument.them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0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7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2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4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A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A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notes' format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A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6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A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A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17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A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A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18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A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9B74293-46AB-42A7-89C0-7BCFF3AA9803}" type="slidenum">
              <a:rPr b="0" lang="en-A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7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92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Large Language Models allow to replace mundane text generation with automation. This can lead to reduction in labour expenses and increase in profitability.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Incorporating LLMs require changes in business process.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Every company have access to LLMs trained on public data. Therefore, the knowledge of public data is not a competitive advantage. Only private data gives advantage.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Investing in LLM workflows should focus on using private data. This gives biggest advantage.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More context – what we try to automate. – context of security work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92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 the example application we combine private and public data. 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Private data is collected from penetration test reports conducted on the enterprise network and applications. Results recorded in the reports are confidential to the organisation.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Public data is the PCI DSS standard. This standard is a part of public domain. As a result, generally available LLMs are trained on this document.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92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When the company decides to use LLM in business, it should decide how to incorporate private data in the machine.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We will briefly describe the methods to deliver private data in the machine.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6200" cy="4008240"/>
          </a:xfrm>
          <a:prstGeom prst="rect">
            <a:avLst/>
          </a:prstGeom>
          <a:ln w="0">
            <a:noFill/>
          </a:ln>
        </p:spPr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92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RAG keeps private data separate from the machine in the database.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Such database has to be created and maintained by the organisation.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Part of the example application called Indexer creates and maintains RAG database.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Note that the steps required to created RAG solution can be reused in Tuning solution. 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6200" cy="4008240"/>
          </a:xfrm>
          <a:prstGeom prst="rect">
            <a:avLst/>
          </a:prstGeom>
          <a:ln w="0">
            <a:noFill/>
          </a:ln>
        </p:spPr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92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Tuning process incorporates private data into LLM decision making. 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This method depends on the quality of data supplied.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Note that RAG solution can be used to verify quality of data before deployment of Tuning solution. 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6200" cy="4008240"/>
          </a:xfrm>
          <a:prstGeom prst="rect">
            <a:avLst/>
          </a:prstGeom>
          <a:ln w="0">
            <a:noFill/>
          </a:ln>
        </p:spPr>
      </p:sp>
      <p:sp>
        <p:nvSpPr>
          <p:cNvPr id="8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92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We believe that organisations entering ML can benefit from gradual introduction.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RAG allows to introduce ML at a cost lower that Tuning.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6200" cy="4008240"/>
          </a:xfrm>
          <a:prstGeom prst="rect">
            <a:avLst/>
          </a:prstGeom>
          <a:ln w="0">
            <a:noFill/>
          </a:ln>
        </p:spPr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92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We use Pydantic development library to create our ML applications.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We believe that Pydantic provides the balance of features and portability across major ML platforms.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Investing in Pydantic Agent solution reduces the risk of obsolete technology.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6200" cy="4008240"/>
          </a:xfrm>
          <a:prstGeom prst="rect">
            <a:avLst/>
          </a:prstGeom>
          <a:ln w="0">
            <a:noFill/>
          </a:ln>
        </p:spPr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92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Our example application stores RAG database separately from Cloud LLM.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This allows full control of private data.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We can use the apps with Web interface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Or we can run apps as service scripts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92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Operator extracts private data from unstructured documents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Operator monitors quality of data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Operator is a privileged role with access to all the data.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92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Dual use Indexer app executed as command line script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Calls to Cloud deployed Gemini LLM consume tokens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Call to local RAG database do not consume tokens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6200" cy="4008240"/>
          </a:xfrm>
          <a:prstGeom prst="rect">
            <a:avLst/>
          </a:prstGeom>
          <a:ln w="0">
            <a:noFill/>
          </a:ln>
        </p:spPr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92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Hybrid architecture allows flexibility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Where the database is stored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Where the application itself is deployed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What LLM host service is used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All of these components can be configured to minimise operational expenses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9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92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Query application uses RAG database and cloud deployed LLM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Cloud access via REST API specific to the LLM provider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Answer is generated in two steps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1. RAG database query to select private data set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2. Combine initial query with RAG data in the final LLM query.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92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Original query is XSS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RAG database is queried for list of synonyms 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Returns from RAG queries create context for the final call to general LLM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10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92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Final query to general LLM asks about PCI DSS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RAG query result is incorporated as a structured input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10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92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reply from general LLM incorporates: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- private data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- public data in the form of PCI DSS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10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92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 example of semantic search results that illustrate the challenge of data retrieval: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- The intent of the query was to retrieve all issues describing XSS vulnerabilities in the software.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- The item retrieved by semantic search described potential XSS vulnerability in a third-party application “Jenkins”.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- From the point of view of LLM, the answer matches the query. There is an XSS issue in Jenkins. Job well done.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- From the point of view of the user, this answer is likely incorrect. The information about third-party XSS issue is not relevant to enterprise software developer. 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Blue_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"/>
          <p:cNvSpPr/>
          <p:nvPr/>
        </p:nvSpPr>
        <p:spPr>
          <a:xfrm flipH="1" flipV="1">
            <a:off x="-2880" y="4497120"/>
            <a:ext cx="10077120" cy="116712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blurRad="0"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8997120" cy="107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dd41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360000" y="2880000"/>
            <a:ext cx="9357120" cy="161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b="0" lang="en-A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dt" idx="1"/>
          </p:nvPr>
        </p:nvSpPr>
        <p:spPr>
          <a:xfrm>
            <a:off x="360000" y="5220000"/>
            <a:ext cx="2337120" cy="35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ftr" idx="2"/>
          </p:nvPr>
        </p:nvSpPr>
        <p:spPr>
          <a:xfrm>
            <a:off x="3420000" y="5220000"/>
            <a:ext cx="3237120" cy="35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5"/>
          <p:cNvSpPr>
            <a:spLocks noGrp="1"/>
          </p:cNvSpPr>
          <p:nvPr>
            <p:ph type="sldNum" idx="3"/>
          </p:nvPr>
        </p:nvSpPr>
        <p:spPr>
          <a:xfrm>
            <a:off x="7380000" y="5220000"/>
            <a:ext cx="2337120" cy="35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16A1E7D-750A-4E93-8C2E-CFBFFBB57F5C}" type="slidenum"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 flipH="1" flipV="1">
            <a:off x="-2880" y="4497120"/>
            <a:ext cx="10077120" cy="116712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blurRad="0"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8997120" cy="107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dd41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60000" y="2880000"/>
            <a:ext cx="9357120" cy="161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b="0" lang="en-A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360000" y="5220000"/>
            <a:ext cx="2337120" cy="35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420000" y="5220000"/>
            <a:ext cx="3237120" cy="35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7380000" y="5220000"/>
            <a:ext cx="2337120" cy="35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06547B3-13E6-46A6-B5F6-5DD006169172}" type="slidenum"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lue_Curv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10073880" cy="71712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blurRad="0"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" name=""/>
          <p:cNvSpPr/>
          <p:nvPr/>
        </p:nvSpPr>
        <p:spPr>
          <a:xfrm>
            <a:off x="3240" y="5040000"/>
            <a:ext cx="10073880" cy="62856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blurRad="0"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57120" cy="47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360000" y="1080000"/>
            <a:ext cx="935712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b="0" lang="en-A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7"/>
          </p:nvPr>
        </p:nvSpPr>
        <p:spPr>
          <a:xfrm>
            <a:off x="360000" y="5220000"/>
            <a:ext cx="2337120" cy="35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8"/>
          </p:nvPr>
        </p:nvSpPr>
        <p:spPr>
          <a:xfrm>
            <a:off x="3420000" y="5220000"/>
            <a:ext cx="3237120" cy="35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sldNum" idx="9"/>
          </p:nvPr>
        </p:nvSpPr>
        <p:spPr>
          <a:xfrm>
            <a:off x="7380000" y="5220000"/>
            <a:ext cx="2337120" cy="35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6401DF2-D80C-4D68-A3CB-8DE6776493FC}" type="slidenum"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Blue_Curve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"/>
          <p:cNvSpPr/>
          <p:nvPr/>
        </p:nvSpPr>
        <p:spPr>
          <a:xfrm flipH="1" flipV="1">
            <a:off x="-2160" y="4497840"/>
            <a:ext cx="10077840" cy="116784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blurRad="0"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8997840" cy="107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dd41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360000" y="2880000"/>
            <a:ext cx="9357840" cy="161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b="0" lang="en-A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dt" idx="10"/>
          </p:nvPr>
        </p:nvSpPr>
        <p:spPr>
          <a:xfrm>
            <a:off x="360000" y="5220000"/>
            <a:ext cx="2337840" cy="35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ftr" idx="11"/>
          </p:nvPr>
        </p:nvSpPr>
        <p:spPr>
          <a:xfrm>
            <a:off x="3420000" y="5220000"/>
            <a:ext cx="3237840" cy="35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12"/>
          </p:nvPr>
        </p:nvSpPr>
        <p:spPr>
          <a:xfrm>
            <a:off x="7380000" y="5220000"/>
            <a:ext cx="2337840" cy="35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80E30C3-87C0-4BA0-AD34-197364B21B1B}" type="slidenum"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lue_Curve1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/>
          <p:nvPr/>
        </p:nvSpPr>
        <p:spPr>
          <a:xfrm>
            <a:off x="0" y="0"/>
            <a:ext cx="10074600" cy="71784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blurRad="0"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" name=""/>
          <p:cNvSpPr/>
          <p:nvPr/>
        </p:nvSpPr>
        <p:spPr>
          <a:xfrm>
            <a:off x="3240" y="5040000"/>
            <a:ext cx="10074600" cy="62928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blurRad="0"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57840" cy="47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360000" y="1080000"/>
            <a:ext cx="9357840" cy="359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b="0" lang="en-A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3"/>
          </p:nvPr>
        </p:nvSpPr>
        <p:spPr>
          <a:xfrm>
            <a:off x="360000" y="5220000"/>
            <a:ext cx="2337840" cy="35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4"/>
          </p:nvPr>
        </p:nvSpPr>
        <p:spPr>
          <a:xfrm>
            <a:off x="3420000" y="5220000"/>
            <a:ext cx="3237840" cy="35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5"/>
          </p:nvPr>
        </p:nvSpPr>
        <p:spPr>
          <a:xfrm>
            <a:off x="7380000" y="5220000"/>
            <a:ext cx="2337840" cy="35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AFD00DB-6E48-431A-B231-A70635C0BD4D}" type="slidenum"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  <p:sldLayoutId id="2147483654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https://github.com/DarlowieTechnology/a_bridge_too_far" TargetMode="External"/><Relationship Id="rId2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0" y="1617120"/>
            <a:ext cx="8997120" cy="108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dd4100"/>
                </a:solidFill>
                <a:effectLst/>
                <a:uFillTx/>
                <a:latin typeface="Arial"/>
              </a:rPr>
              <a:t>Workflow Optimisation Project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360000" y="165240"/>
            <a:ext cx="9357120" cy="50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Introduction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712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LLMs is an opportunity to improve productivity.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Productivity requires new workflows.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Private enterprise data is the difference in the market.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  <a:ea typeface="Microsoft YaHei"/>
              </a:rPr>
              <a:t>Make sense to focus on workflows related to private data.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6CDE720-1098-4811-AC6E-CEA3BAE2F23D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360000" y="165240"/>
            <a:ext cx="9357120" cy="50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Example Case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712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Proof of Concept use private and public data.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  <a:ea typeface="Microsoft YaHei"/>
              </a:rPr>
              <a:t>Private data – reports of penetration tests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  <a:ea typeface="Microsoft YaHei"/>
              </a:rPr>
              <a:t>Public data – PCI DSS Cyber Security Framework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250274B-131E-4446-AEAB-57262E329DD9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360000" y="165240"/>
            <a:ext cx="9357120" cy="50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Technologies of Machine Learning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712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Machine learning in enterprise settings should focus on private data.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There are two major ways to implement ML: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  <a:ea typeface="Microsoft YaHei"/>
              </a:rPr>
              <a:t>RAG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  <a:ea typeface="Microsoft YaHei"/>
              </a:rPr>
              <a:t>LLM Tuning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B19FB97-0456-45D0-BF20-F24DB36DA58F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360000" y="165240"/>
            <a:ext cx="9357120" cy="50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Retrieval-Augmented Generation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712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RAG advantages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Data manipulation portable between LLM providers. 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Initial step for LLM tuning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Conversion of documents to structured data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RAG disadvantages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Low performance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Low precision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2A1F916-4B22-48D4-8155-D86E68A788E8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360000" y="165240"/>
            <a:ext cx="9357120" cy="50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LLM Tuning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712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Tuning advantages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High performance 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High precision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Tuning disadvantages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Tuning expense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Periodic re-tuning required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0E046A5-F5E7-49C8-8342-4DDA3F276DAB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360000" y="165240"/>
            <a:ext cx="9357120" cy="50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Summary: RAG as an Entry Point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712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RAG solution as an entry to LLM workflows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RAG allows to convert unstructured data to structured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RAG allows to implement effective authorisation mechanism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RAG allows to verify quality of data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261A672-F732-4395-B363-2F8E370AA5AF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360000" y="165240"/>
            <a:ext cx="9357120" cy="50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Pydantic Agent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712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Best of Agentic AI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Portable across all major LLM providers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Types based on JSON schema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Wraps iterative LLM calls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Serves as the foundation of many LLM SDKs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1982FE6-F4E6-4067-B71B-DDF40B987442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360000" y="165240"/>
            <a:ext cx="9357120" cy="50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Architecture Summary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712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Example app is a hybrid architecture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Cloud-based LLM accessed via REST API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Local vector database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Dual use web apps and command line scripts 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560748D-DD3C-420F-8D8E-030CE50F1DE9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360000" y="165240"/>
            <a:ext cx="9357120" cy="50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Source Code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712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Public repository on GitHub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00ee"/>
                </a:solidFill>
                <a:effectLst/>
                <a:uFillTx/>
                <a:latin typeface="Arial"/>
                <a:hlinkClick r:id="rId1"/>
              </a:rPr>
              <a:t>github.com/DarlowieTechnology/a_bridge_too_far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Python, Pydantic, Django, ChromaDB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3 web applications (generator, indexer, query)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DD4256A-3CDF-45C0-9299-61A360EE7C25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0" y="1617840"/>
            <a:ext cx="8997840" cy="108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dd4100"/>
                </a:solidFill>
                <a:effectLst/>
                <a:uFillTx/>
                <a:latin typeface="Arial"/>
              </a:rPr>
              <a:t>Indexer Application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360000" y="165960"/>
            <a:ext cx="9357840" cy="50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High-Level Indexer Service Design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" name="" descr=""/>
          <p:cNvPicPr/>
          <p:nvPr/>
        </p:nvPicPr>
        <p:blipFill>
          <a:blip r:embed="rId1"/>
          <a:stretch/>
        </p:blipFill>
        <p:spPr>
          <a:xfrm>
            <a:off x="628200" y="973800"/>
            <a:ext cx="8847360" cy="373176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7F679138-B0A1-4D8E-9942-081778ECB28D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360000" y="165960"/>
            <a:ext cx="9357840" cy="50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Indexer Output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" name="" descr=""/>
          <p:cNvPicPr/>
          <p:nvPr/>
        </p:nvPicPr>
        <p:blipFill>
          <a:blip r:embed="rId1"/>
          <a:stretch/>
        </p:blipFill>
        <p:spPr>
          <a:xfrm>
            <a:off x="39600" y="871920"/>
            <a:ext cx="10079640" cy="3954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8EBE608C-6E38-4EEE-8952-847FA79307C7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360000" y="165960"/>
            <a:ext cx="9357840" cy="504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Hybrid Architecture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" name="" descr=""/>
          <p:cNvPicPr/>
          <p:nvPr/>
        </p:nvPicPr>
        <p:blipFill>
          <a:blip r:embed="rId1"/>
          <a:stretch/>
        </p:blipFill>
        <p:spPr>
          <a:xfrm>
            <a:off x="1186920" y="1283400"/>
            <a:ext cx="7695720" cy="309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35FAF888-21FA-46BA-AB32-6BB8653125BB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0" y="1618200"/>
            <a:ext cx="8998200" cy="10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dd4100"/>
                </a:solidFill>
                <a:effectLst/>
                <a:uFillTx/>
                <a:latin typeface="Arial"/>
              </a:rPr>
              <a:t>Query Application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360000" y="166320"/>
            <a:ext cx="9358200" cy="50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High-Level Query App Design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" name="" descr=""/>
          <p:cNvPicPr/>
          <p:nvPr/>
        </p:nvPicPr>
        <p:blipFill>
          <a:blip r:embed="rId1"/>
          <a:stretch/>
        </p:blipFill>
        <p:spPr>
          <a:xfrm>
            <a:off x="1653480" y="1407240"/>
            <a:ext cx="6762240" cy="284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EF322DB7-C2DD-43F3-82FC-DA309858F5C8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360000" y="166320"/>
            <a:ext cx="9358200" cy="50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Query RAG Query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" name="" descr=""/>
          <p:cNvPicPr/>
          <p:nvPr/>
        </p:nvPicPr>
        <p:blipFill>
          <a:blip r:embed="rId1"/>
          <a:stretch/>
        </p:blipFill>
        <p:spPr>
          <a:xfrm>
            <a:off x="39600" y="1434600"/>
            <a:ext cx="10079640" cy="4527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AAD89DC6-AECF-4A5E-97BC-44B5DD93D858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360000" y="166320"/>
            <a:ext cx="9358200" cy="50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Query Final Query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" name="" descr=""/>
          <p:cNvPicPr/>
          <p:nvPr/>
        </p:nvPicPr>
        <p:blipFill>
          <a:blip r:embed="rId1"/>
          <a:stretch/>
        </p:blipFill>
        <p:spPr>
          <a:xfrm>
            <a:off x="39600" y="1571760"/>
            <a:ext cx="10079640" cy="2554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16AEC8B7-8C41-40A6-A55A-60EF7096C3B4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360000" y="166320"/>
            <a:ext cx="9358200" cy="50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Query Final Query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" name="" descr=""/>
          <p:cNvPicPr/>
          <p:nvPr/>
        </p:nvPicPr>
        <p:blipFill>
          <a:blip r:embed="rId1"/>
          <a:stretch/>
        </p:blipFill>
        <p:spPr>
          <a:xfrm>
            <a:off x="39600" y="1403640"/>
            <a:ext cx="10079640" cy="374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408AD97C-400D-468E-912A-8C5CB23D3F74}" type="slidenum">
              <a:t>19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360000" y="166320"/>
            <a:ext cx="9358200" cy="50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Query Semantic Search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315720" y="878040"/>
            <a:ext cx="9529920" cy="3887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32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Query “</a:t>
            </a:r>
            <a:r>
              <a:rPr b="0" i="1" lang="en-AU" sz="32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XSS issues</a:t>
            </a:r>
            <a:r>
              <a:rPr b="0" lang="en-AU" sz="32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”</a:t>
            </a:r>
            <a:endParaRPr b="0" lang="en-A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32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 </a:t>
            </a:r>
            <a:endParaRPr b="0" lang="en-A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32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Semantic search returns:</a:t>
            </a:r>
            <a:endParaRPr b="0" lang="en-A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32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 </a:t>
            </a:r>
            <a:endParaRPr b="0" lang="en-A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i="1" lang="en-A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installed version of Jenkins server was affected by a number of security vulnerabilities. Known vulnerabilities included CSRF and </a:t>
            </a:r>
            <a:r>
              <a:rPr b="1" i="1" lang="en-AU" sz="3200" strike="noStrike" u="sng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</a:rPr>
              <a:t>XSS</a:t>
            </a:r>
            <a:r>
              <a:rPr b="0" i="1" lang="en-A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weaknesses.</a:t>
            </a:r>
            <a:r>
              <a:rPr b="0" lang="en-AU" sz="32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 </a:t>
            </a: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 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1AE7CB1E-46C4-40B3-8F34-F97FCE25D822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349</TotalTime>
  <Application>LibreOffice/25.2.7.2$Windows_X86_64 LibreOffice_project/5cbfd1ab6520636bb5f7b99185aa69bd7456825d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2025-10-19T09:40:00Z</dcterms:created>
  <dc:creator/>
  <dc:description>This work is licensed under a Creative Commons 0 License.
It makes use of the works of kka_libo_design@ashisuto.co.jp.</dc:description>
  <dc:language>en-AU</dc:language>
  <cp:lastModifiedBy/>
  <dcterms:modified xsi:type="dcterms:W3CDTF">2025-12-31T09:37:01Z</dcterms:modified>
  <cp:revision>58</cp:revision>
  <dc:subject/>
  <dc:title>Blue Curve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