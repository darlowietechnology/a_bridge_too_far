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5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5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A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A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1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2C46E84-C54E-4D4D-835C-022FE624DB43}" type="slidenum"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2600" cy="400428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2960" cy="480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Large Language Models allow to replace mundane text generation with automation. This can lead to reduction in labour expenses and increase in profitability.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Incorporating LLMs require changes in business process.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 company have access to LLMs trained on public data. Therefore, the knowledge of public data is not a competitive advantage. Only private data gives advantage.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Investing in LLM workflows should focus on using private data. This gives biggest advantage.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More context – what we try to automate. – context of security work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2600" cy="400428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2960" cy="480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Large Language Models allow to replace mundane text generation with automation. This can lead to reduction in labour expenses and increase in profitability.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Incorporating LLMs require changes in business process.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 company have access to LLMs trained on public data. Therefore, the knowledge of public data is not a competitive advantage. Only private data gives advantage.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Investing in LLM workflows should focus on using private data. This gives biggest advantage.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More context – what we try to automate. – context of security work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2600" cy="400428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2960" cy="480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the example application we combine private and public data. 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Private data is collected from penetration test reports conducted on the enterprise network and applications. Results recorded in the reports are confidential to the organisation.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Public data is the PCI DSS standard. This standard is a part of public domain. As a result, generally available LLMs are trained on this document.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2600" cy="400428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2960" cy="480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When the company decides to use LLM in business, it should decide how to incorporate private data in the machine.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 will briefly describe the methods to deliver private data in the machine.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216360" y="812520"/>
            <a:ext cx="7122240" cy="400428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2960" cy="480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 keeps private data separate from the machine in the database.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Such database has to be created and maintained by the organisation.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of the example application called Indexer creates and maintains RAG database.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 that the steps required to created RAG solution can be reused in Tuning solution. 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216360" y="812520"/>
            <a:ext cx="7122240" cy="400428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2960" cy="480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Tuning process incorporates private data into LLM decision making. 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method depends on the quality of data supplied.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 that RAG solution can be used to verify quality of data before deployment of Tuning solution. 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216360" y="812520"/>
            <a:ext cx="7122240" cy="400428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2960" cy="480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 believe that organisations entering ML can benefit from gradual introduction.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 allows to introduce ML at a cost lower that Tuning.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216360" y="812520"/>
            <a:ext cx="7122240" cy="400428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2960" cy="480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 use Pydantic development library to create our ML applications.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 believe that Pydantic provides the balance of features and portability across major ML platforms.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Investing in Pydantic Agent solution reduces the risk of obsolete technology.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216360" y="812520"/>
            <a:ext cx="7122240" cy="400428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2960" cy="480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Our example application stores RAG database separately from Cloud LLM.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allows full control of private data.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 can use the apps with Web interface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Or we can run apps as service scripts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4040" cy="400608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4760" cy="48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Default memory configuration of MS-S1 Max is a 64 GB general memory and 64GB of shared memory for OS, GPU, NPU.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AMD Variable Graphics Memory (VGM) is a preallocated continuous block of physical memory.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Enabling VGM improves MLPerf score 2-3% compared with default configuration.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Total potential memory for GPU is 112 GB (96 + 16).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4040" cy="400608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4760" cy="48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Baseline for MLPerf performance comparison.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This workstation was released in 2018.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Note that the current Dell Precision 7680 costs AUD 4700 which is comparable in price to Minisforum MS-S1 Max (AUD 4300)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Memory is shared between CPU and GPU via NVidia  driver.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4040" cy="400608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4760" cy="48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MLPerf is a self-contained benchmark.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MLPerf uses small LLMs to allow better coverage across platforms.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MLPerf results are indicative of platform performance.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Business-specific workloads may have different results.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4040" cy="400608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4760" cy="48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Llama 3.1 8B results show significant improvement.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 3.5 Mini results show improvement in start up.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4040" cy="400608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4760" cy="48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gpt-oss-20b LLM was used on local hosts. Gemini 3.1 was used on Google clous.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Usage restructions on Google Cloud force users into paid-for solution.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Ollama uses PyTourch and AMD ROCm drivers to implement GPU acceleration. PyTourch has to be compiled with CUDA support. Compilation would require GCC and Clang support. Conclusion: doable but not production level.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In contrast to Ollama, LM Studio  supports AMD GPU acceleration out of the box on Windows. It is recommended by AMD.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Cloud provider outperform local host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4040" cy="400608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4760" cy="48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Local hosting provided by LM Studio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Cloud hosting provided by Ollama Cloud and Google Cloud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Cloud models outperformed local host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All locally hosted models had same parameters: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 Temperature: 0.1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 Seed: 1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 Reasoning effort: Low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 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Gemini had default parameters.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4040" cy="400608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4760" cy="48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Dataset consist of: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20 LLM research papers in PDF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11 penetration test reports in PDF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20 medical research notes in plain text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20 engineering Q/A in JSON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2600" cy="400428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2960" cy="480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Operator extracts private data from unstructured documents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Operator monitors quality of data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Operator is a privileged role with access to all the data.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2600" cy="400428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2960" cy="480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Dual use Indexer app executed as command line script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Calls to Cloud deployed Gemini LLM consume tokens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Call to local RAG database do not consume tokens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216360" y="812520"/>
            <a:ext cx="7122240" cy="400428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2960" cy="480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Hybrid architecture allows flexibility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Where the database is stored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Where the application itself is deployed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LLM host service is used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 of these components can be configured to minimise operational expenses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2600" cy="400428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2960" cy="480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Query application uses RAG database and cloud deployed LLM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Cloud access via REST API specific to the LLM provider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Answer is generated in two steps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RAG database query to select private data set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Combine initial query with RAG data in the final LLM query.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2600" cy="400428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2960" cy="480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Original query is XSS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 database is queried for list of synonyms 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Returns from RAG queries create context for the final call to general LLM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2600" cy="400428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2960" cy="480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Final query to general LLM asks about PCI DSS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 query result is incorporated as a structured input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2600" cy="400428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2960" cy="480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reply from general LLM incorporates: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private data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public data in the form of PCI DSS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2600" cy="400428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2960" cy="480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 example of semantic search results that illustrate the challenge of data retrieval: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The intent of the query was to retrieve all issues describing XSS vulnerabilities in the software.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The item retrieved by semantic search described potential XSS vulnerability in a third-party application “Jenkins”.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From the point of view of LLM, the answer matches the query. There is an XSS issue in Jenkins. Job well done.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From the point of view of the user, this answer is likely incorrect. The information about third-party XSS issue is not relevant to enterprise software developer. 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flipH="1" flipV="1">
            <a:off x="-7200" y="4492800"/>
            <a:ext cx="10073160" cy="116316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8993160" cy="107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53160" cy="161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lang="en-A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lang="en-A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lang="en-A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lang="en-A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lang="en-A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33160" cy="35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33160" cy="35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33160" cy="35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78E69A-31B0-4450-A835-D5749DEB8364}" type="slidenum">
              <a: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 flipH="1" flipV="1">
            <a:off x="-7200" y="4492800"/>
            <a:ext cx="10073160" cy="116316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8993160" cy="107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53160" cy="161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lang="en-A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lang="en-A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lang="en-A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lang="en-A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lang="en-A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33160" cy="35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33160" cy="35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33160" cy="35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3BB07C-16D8-49CF-80F7-7896A31126A7}" type="slidenum">
              <a: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0" y="0"/>
            <a:ext cx="10069920" cy="71316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" name=""/>
          <p:cNvSpPr/>
          <p:nvPr/>
        </p:nvSpPr>
        <p:spPr>
          <a:xfrm>
            <a:off x="3240" y="5040000"/>
            <a:ext cx="10069920" cy="62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3160" cy="47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Click to edit the title text format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53160" cy="359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lang="en-A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lang="en-A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lang="en-A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lang="en-A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lang="en-A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33160" cy="35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33160" cy="35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33160" cy="35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CF1584-4DC8-453D-8B3B-D87EF7E1A7AB}" type="slidenum">
              <a: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1_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0" y="0"/>
            <a:ext cx="10069920" cy="71316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" name=""/>
          <p:cNvSpPr/>
          <p:nvPr/>
        </p:nvSpPr>
        <p:spPr>
          <a:xfrm>
            <a:off x="3240" y="5040000"/>
            <a:ext cx="10069920" cy="62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3160" cy="47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Click to edit the title text format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53160" cy="359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lang="en-A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lang="en-A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lang="en-A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lang="en-A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lang="en-A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0"/>
          </p:nvPr>
        </p:nvSpPr>
        <p:spPr>
          <a:xfrm>
            <a:off x="360000" y="5220000"/>
            <a:ext cx="2333160" cy="35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1"/>
          </p:nvPr>
        </p:nvSpPr>
        <p:spPr>
          <a:xfrm>
            <a:off x="3420000" y="5220000"/>
            <a:ext cx="3233160" cy="35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2"/>
          </p:nvPr>
        </p:nvSpPr>
        <p:spPr>
          <a:xfrm>
            <a:off x="7380000" y="5220000"/>
            <a:ext cx="2333160" cy="35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5A6BD9-8566-4B27-82F5-A0E040F2D1AF}" type="slidenum">
              <a: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ue_Curv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 flipH="1" flipV="1">
            <a:off x="-6480" y="4493520"/>
            <a:ext cx="10073880" cy="116388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8993880" cy="107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53880" cy="161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lang="en-A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lang="en-A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lang="en-A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lang="en-A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lang="en-A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3"/>
          </p:nvPr>
        </p:nvSpPr>
        <p:spPr>
          <a:xfrm>
            <a:off x="36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4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5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4CA91F-2FD1-48FB-AADF-E3B63750F822}" type="slidenum">
              <a: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>
            <a:off x="0" y="0"/>
            <a:ext cx="10070640" cy="7138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" name=""/>
          <p:cNvSpPr/>
          <p:nvPr/>
        </p:nvSpPr>
        <p:spPr>
          <a:xfrm>
            <a:off x="3240" y="5040000"/>
            <a:ext cx="10070640" cy="6253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3880" cy="47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Click to edit the title text format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53880" cy="359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lang="en-A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lang="en-A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lang="en-A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lang="en-A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lang="en-A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16"/>
          </p:nvPr>
        </p:nvSpPr>
        <p:spPr>
          <a:xfrm>
            <a:off x="36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17"/>
          </p:nvPr>
        </p:nvSpPr>
        <p:spPr>
          <a:xfrm>
            <a:off x="3420000" y="5220000"/>
            <a:ext cx="32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18"/>
          </p:nvPr>
        </p:nvSpPr>
        <p:spPr>
          <a:xfrm>
            <a:off x="7380000" y="5220000"/>
            <a:ext cx="233388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289129C-1A95-4A6F-AD6E-1BC259D6EA13}" type="slidenum">
              <a:rPr lang="en-A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  <p:sldLayoutId id="2147483655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github.com/DarlowieTechnology/a_bridge_too_far" TargetMode="External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0" y="1613160"/>
            <a:ext cx="8993160" cy="108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Workflow Optimisation Project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60000" y="161280"/>
            <a:ext cx="9353160" cy="50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Introduction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3160" cy="359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LLMs is an opportunity to improve productivity.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Productivity requires new workflows.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Private enterprise data is the difference in the market.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  <a:ea typeface="Microsoft YaHei"/>
              </a:rPr>
              <a:t>Make sense to focus on workflows related to private data.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F37F21F-4976-44F8-A581-59211430F3DB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60000" y="161280"/>
            <a:ext cx="9353160" cy="50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Relevant Quote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"/>
          <p:cNvPicPr/>
          <p:nvPr/>
        </p:nvPicPr>
        <p:blipFill>
          <a:blip r:embed="rId1"/>
          <a:stretch/>
        </p:blipFill>
        <p:spPr>
          <a:xfrm>
            <a:off x="2311920" y="995400"/>
            <a:ext cx="5464080" cy="369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F538D10-B402-45DB-AF3B-CC59EEF98493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60000" y="161280"/>
            <a:ext cx="9353160" cy="50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Example Case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3160" cy="359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Proof of Concept use private and public data.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  <a:ea typeface="Microsoft YaHei"/>
              </a:rPr>
              <a:t>Private data – collection of documents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  <a:ea typeface="Microsoft YaHei"/>
              </a:rPr>
              <a:t>Public data – general data used for training LLM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834F849-F65C-490E-9A75-6B50BDB8F76E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60000" y="161280"/>
            <a:ext cx="9353160" cy="50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Technologies of Machine Learning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3160" cy="359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Machine learning in enterprise settings should focus on private data.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There are two major ways to implement ML: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  <a:ea typeface="Microsoft YaHei"/>
              </a:rPr>
              <a:t>RAG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  <a:ea typeface="Microsoft YaHei"/>
              </a:rPr>
              <a:t>LLM Tuning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B6A6EC5-FE4A-4EFC-B631-6C1824D2E2F5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60000" y="161280"/>
            <a:ext cx="9353160" cy="50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Retrieval-Augmented Generation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3160" cy="359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RAG advantages</a:t>
            </a: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Data manipulation portable between LLM providers. </a:t>
            </a: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Initial step for LLM tuning</a:t>
            </a: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Conversion of documents to structured data</a:t>
            </a: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RAG disadvantages</a:t>
            </a: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Low performance</a:t>
            </a: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Low precision</a:t>
            </a: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F81E426-B457-423D-83FE-353E4CD0E5A7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60000" y="161280"/>
            <a:ext cx="9353160" cy="50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LLM Tuning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3160" cy="359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Tuning advantages</a:t>
            </a: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High performance </a:t>
            </a: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High precision</a:t>
            </a: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Tuning disadvantages</a:t>
            </a: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Tuning expense</a:t>
            </a: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Periodic re-tuning required</a:t>
            </a: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614B605-AA82-427C-8AE3-B6B5A64C9E60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60000" y="161280"/>
            <a:ext cx="9353160" cy="50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Summary: RAG as an Entry Point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3160" cy="359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RAG solution as an entry to LLM workflows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RAG allows to convert unstructured data to structured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RAG allows to implement effective authorisation mechanism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RAG allows to verify quality of data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4F7A0BA-45EB-46D6-BC75-271DC5E6709B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60000" y="161280"/>
            <a:ext cx="9353160" cy="50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Pydantic Agent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3160" cy="359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Agentic AI Library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Supports OpenAI, Google, Ollama and others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Strong types based on JSON schema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Wraps iterative LLM calls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Serves as the foundation of many LLM SDKs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7514A36-389A-4FE0-B347-6E6BA9CAA288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360000" y="161280"/>
            <a:ext cx="9353160" cy="50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Architecture Summary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3160" cy="359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Example app is a hybrid architecture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Cloud-based LLM accessed via REST API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Local vector database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Dual use web apps and command line scripts 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861ACFA-DB3D-462A-9DE6-6918F7F0E2F1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60000" y="161280"/>
            <a:ext cx="9353160" cy="50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Source Code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3160" cy="359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Public repository on GitHub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b="0" u="none" strike="noStrike">
                <a:solidFill>
                  <a:srgbClr val="0000ee"/>
                </a:solidFill>
                <a:effectLst/>
                <a:uFillTx/>
                <a:latin typeface="Arial"/>
                <a:hlinkClick r:id="rId1"/>
              </a:rPr>
              <a:t>github.com/DarlowieTechnology/a_bridge_too_far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Python, Pydantic, Django, ChromaDB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4 applications (generator, indexer, query, discovery)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584CCFC-6046-4C72-A7FC-8AA4A5D299B9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0" y="1613880"/>
            <a:ext cx="8993880" cy="108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Hardware Platform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60000" y="161280"/>
            <a:ext cx="9353160" cy="50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MINISFORUM MS-S1 Max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3160" cy="359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AMD Ryzen™ AI Max+ 395 Platform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CPU: Ryzen AI Max 300, 3.00 GHz,  16 / 32 cores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GPU: Radeon 8060S 2 GB with additional 96 GB RAM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16 GB general use RAM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16 GB shared RAM (GPU and NPU)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DF20220-D846-48C4-AC2E-91164AC96152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60000" y="161280"/>
            <a:ext cx="9353160" cy="50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Baseline: Dell Precision 7530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3160" cy="359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General-purpose Intel-based workstation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CPU: Intel i7-9750H, 2.60 GHz, 6 / 12 cores 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GPU: NVidia Quadro T1000 4 GB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64 GB general RAM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35.9 GB shared RAM (GPU)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DD88A71-C9C5-4BFB-A3D9-33F6D15CBD25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360000" y="161280"/>
            <a:ext cx="9353160" cy="50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Benchmarks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3160" cy="359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MLPerf Client v1.5 on Windows 11 Pro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Llama 3.1 8B Instruct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Phi 3.5 Mini Instruct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0A4FFFA-895B-4383-AD45-4315C4444EE2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60000" y="161280"/>
            <a:ext cx="9353160" cy="50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MLPerf Results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6" name=""/>
          <p:cNvGraphicFramePr/>
          <p:nvPr/>
        </p:nvGraphicFramePr>
        <p:xfrm>
          <a:off x="382320" y="1374120"/>
          <a:ext cx="9430560" cy="2909160"/>
        </p:xfrm>
        <a:graphic>
          <a:graphicData uri="http://schemas.openxmlformats.org/drawingml/2006/table">
            <a:tbl>
              <a:tblPr/>
              <a:tblGrid>
                <a:gridCol w="3142800"/>
                <a:gridCol w="2143440"/>
                <a:gridCol w="4144680"/>
              </a:tblGrid>
              <a:tr h="62856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Benchmark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Dell Precision 7530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Minisforum MS-S1 Max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0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Llama 3.1 8B Instruct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9880"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Time to First Token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38.99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1.21 (3222% better)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3320"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Tokens per Second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3.4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37.5 (1102% better)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3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Phi 3.5 Mini Instruct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9920"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Time to First Token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19.02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2.09 (910% better)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1840">
                <a:tc>
                  <a:txBody>
                    <a:bodyPr lIns="36000" r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Tokens per Second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25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25.4 (2% worse)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AA38EAB-6DF0-485D-A8C2-4BB516901C9A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0" y="1613880"/>
            <a:ext cx="8993880" cy="108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LLM Host Evaluation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60000" y="161280"/>
            <a:ext cx="9353160" cy="50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  <a:ea typeface="Microsoft YaHei"/>
              </a:rPr>
              <a:t>LLM Host Comparison on MS-S1 Max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9" name=""/>
          <p:cNvGraphicFramePr/>
          <p:nvPr/>
        </p:nvGraphicFramePr>
        <p:xfrm>
          <a:off x="334080" y="940680"/>
          <a:ext cx="9462600" cy="3285720"/>
        </p:xfrm>
        <a:graphic>
          <a:graphicData uri="http://schemas.openxmlformats.org/drawingml/2006/table">
            <a:tbl>
              <a:tblPr/>
              <a:tblGrid>
                <a:gridCol w="1576080"/>
                <a:gridCol w="803520"/>
                <a:gridCol w="1344960"/>
                <a:gridCol w="1166400"/>
                <a:gridCol w="1718280"/>
                <a:gridCol w="2853720"/>
              </a:tblGrid>
              <a:tr h="7894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Host Name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Local /Cloud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Usage Restrictions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Access to Models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GPU Support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Performance on test data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894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Ollama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Local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Limited by hardware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 support for AMD Radeon 8060S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40 sec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894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LM Studio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Local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Limited by hardware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Yes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 sec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9200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Google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Cloud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Yes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Unlimited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N/A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 sec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2E9A5F4-821A-4623-ADD2-7C260BA95D89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0" y="1613880"/>
            <a:ext cx="8993880" cy="108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LLM Evaluation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360000" y="161280"/>
            <a:ext cx="9353160" cy="50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LLM Evaluated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2" name=""/>
          <p:cNvGraphicFramePr/>
          <p:nvPr/>
        </p:nvGraphicFramePr>
        <p:xfrm>
          <a:off x="1241280" y="948600"/>
          <a:ext cx="7558200" cy="3573000"/>
        </p:xfrm>
        <a:graphic>
          <a:graphicData uri="http://schemas.openxmlformats.org/drawingml/2006/table">
            <a:tbl>
              <a:tblPr/>
              <a:tblGrid>
                <a:gridCol w="1889640"/>
                <a:gridCol w="1889640"/>
                <a:gridCol w="1889640"/>
                <a:gridCol w="1889640"/>
              </a:tblGrid>
              <a:tr h="37404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Host</a:t>
                      </a:r>
                      <a:endParaRPr lang="en-A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Provider</a:t>
                      </a:r>
                      <a:endParaRPr lang="en-A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Name</a:t>
                      </a:r>
                      <a:endParaRPr lang="en-A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Performance on test data</a:t>
                      </a:r>
                      <a:endParaRPr lang="en-A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9104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LM Studio local 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OpenAI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gpt-oss-120B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9.9 sec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849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LM Studio local 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OpenAI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gpt-oss-20B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9.6 sec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7844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LM Studio local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Meta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Llama 3.3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18.5 sec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79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Ollama cloud 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OpenAI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gpt-oss-120B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7.7 sec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57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Ollama cloud 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Google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Gemini 3 Flash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22.9 sec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109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Google cloud 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Google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Gemini 3.1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3.6 sec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53A30F7-5415-428C-9B76-6E728F79AC63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0" y="1613880"/>
            <a:ext cx="8993880" cy="108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Discovery Evaluation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360000" y="161280"/>
            <a:ext cx="9353160" cy="50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Discovery App Dataset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5" name=""/>
          <p:cNvGraphicFramePr/>
          <p:nvPr/>
        </p:nvGraphicFramePr>
        <p:xfrm>
          <a:off x="1241280" y="948600"/>
          <a:ext cx="7558200" cy="4094280"/>
        </p:xfrm>
        <a:graphic>
          <a:graphicData uri="http://schemas.openxmlformats.org/drawingml/2006/table">
            <a:tbl>
              <a:tblPr/>
              <a:tblGrid>
                <a:gridCol w="1889640"/>
                <a:gridCol w="1889640"/>
                <a:gridCol w="1889640"/>
                <a:gridCol w="1889640"/>
              </a:tblGrid>
              <a:tr h="895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Action</a:t>
                      </a:r>
                      <a:endParaRPr lang="en-A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Dell Precision 7530</a:t>
                      </a:r>
                      <a:endParaRPr lang="en-A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Ollama host</a:t>
                      </a:r>
                      <a:endParaRPr lang="en-A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gpt-oss-120B cloud</a:t>
                      </a:r>
                      <a:endParaRPr lang="en-A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nomic-embed-text</a:t>
                      </a:r>
                      <a:endParaRPr lang="en-A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MS-S1 Max</a:t>
                      </a:r>
                      <a:endParaRPr lang="en-A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LM Studio host</a:t>
                      </a:r>
                      <a:endParaRPr lang="en-A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gpt-oss-120B local</a:t>
                      </a:r>
                      <a:endParaRPr lang="en-A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nomic-embed-text</a:t>
                      </a:r>
                      <a:endParaRPr lang="en-A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lang="en-AU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9104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Raw file load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91.43 sec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lang="en-AU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lang="en-AU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849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Chunking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A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0.57 sec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lang="en-AU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lang="en-AU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78440">
                <a:tc>
                  <a:txBody>
                    <a:bodyPr lIns="36000" rIns="36000" anchor="t">
                      <a:noAutofit/>
                    </a:bodyPr>
                    <a:p>
                      <a:endParaRPr lang="en-AU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lang="en-AU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lang="en-AU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lang="en-AU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7920">
                <a:tc>
                  <a:txBody>
                    <a:bodyPr lIns="36000" rIns="36000" anchor="t">
                      <a:noAutofit/>
                    </a:bodyPr>
                    <a:p>
                      <a:endParaRPr lang="en-AU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lang="en-AU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lang="en-AU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lang="en-AU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5720">
                <a:tc>
                  <a:txBody>
                    <a:bodyPr lIns="36000" rIns="36000" anchor="t">
                      <a:noAutofit/>
                    </a:bodyPr>
                    <a:p>
                      <a:endParaRPr lang="en-AU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lang="en-AU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lang="en-AU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lang="en-AU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10920">
                <a:tc>
                  <a:txBody>
                    <a:bodyPr lIns="36000" rIns="36000" anchor="t">
                      <a:noAutofit/>
                    </a:bodyPr>
                    <a:p>
                      <a:endParaRPr lang="en-AU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lang="en-AU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lang="en-AU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lang="en-AU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9A8F74B-A64C-4A9D-A819-71E3BEF16E95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0" y="1613880"/>
            <a:ext cx="8993880" cy="108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Indexer Application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60000" y="162000"/>
            <a:ext cx="9353880" cy="50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High-Level Indexer Service Design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"/>
          <p:cNvPicPr/>
          <p:nvPr/>
        </p:nvPicPr>
        <p:blipFill>
          <a:blip r:embed="rId1"/>
          <a:stretch/>
        </p:blipFill>
        <p:spPr>
          <a:xfrm>
            <a:off x="628200" y="973800"/>
            <a:ext cx="8843400" cy="37278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3C249E5-E843-4E3D-96F2-03C9BB4728E5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360000" y="162000"/>
            <a:ext cx="9353880" cy="50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Indexer Output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"/>
          <p:cNvPicPr/>
          <p:nvPr/>
        </p:nvPicPr>
        <p:blipFill>
          <a:blip r:embed="rId1"/>
          <a:stretch/>
        </p:blipFill>
        <p:spPr>
          <a:xfrm>
            <a:off x="39600" y="871920"/>
            <a:ext cx="10075680" cy="395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54D006B-3825-4127-B93A-4B76E82E5373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60000" y="162000"/>
            <a:ext cx="9353880" cy="50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Hybrid Architecture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"/>
          <p:cNvPicPr/>
          <p:nvPr/>
        </p:nvPicPr>
        <p:blipFill>
          <a:blip r:embed="rId1"/>
          <a:stretch/>
        </p:blipFill>
        <p:spPr>
          <a:xfrm>
            <a:off x="1186920" y="1283400"/>
            <a:ext cx="7691760" cy="309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CD09993-558F-47AC-8536-2462ED251429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0" y="1614240"/>
            <a:ext cx="8994240" cy="108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Query Application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60000" y="162360"/>
            <a:ext cx="9354240" cy="50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High-Level Query App Design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"/>
          <p:cNvPicPr/>
          <p:nvPr/>
        </p:nvPicPr>
        <p:blipFill>
          <a:blip r:embed="rId1"/>
          <a:stretch/>
        </p:blipFill>
        <p:spPr>
          <a:xfrm>
            <a:off x="1653480" y="1407240"/>
            <a:ext cx="6758280" cy="2842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54555B9-3198-40B6-A2A7-5769E1B4B16C}" type="slidenum">
              <a:t>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360000" y="162360"/>
            <a:ext cx="9354240" cy="50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Query RAG Query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"/>
          <p:cNvPicPr/>
          <p:nvPr/>
        </p:nvPicPr>
        <p:blipFill>
          <a:blip r:embed="rId1"/>
          <a:stretch/>
        </p:blipFill>
        <p:spPr>
          <a:xfrm>
            <a:off x="39600" y="1434600"/>
            <a:ext cx="10075680" cy="452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6B5022B-7995-48C8-88CA-FD4BDC0BD645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60000" y="162360"/>
            <a:ext cx="9354240" cy="50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Query Final Query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"/>
          <p:cNvPicPr/>
          <p:nvPr/>
        </p:nvPicPr>
        <p:blipFill>
          <a:blip r:embed="rId1"/>
          <a:stretch/>
        </p:blipFill>
        <p:spPr>
          <a:xfrm>
            <a:off x="39600" y="1571760"/>
            <a:ext cx="10075680" cy="255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33FE2FF-28F3-427A-B927-E3FAD5C8D292}" type="slidenum">
              <a:t>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60000" y="162360"/>
            <a:ext cx="9354240" cy="50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Query Final Query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"/>
          <p:cNvPicPr/>
          <p:nvPr/>
        </p:nvPicPr>
        <p:blipFill>
          <a:blip r:embed="rId1"/>
          <a:stretch/>
        </p:blipFill>
        <p:spPr>
          <a:xfrm>
            <a:off x="39600" y="1403640"/>
            <a:ext cx="10075680" cy="37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002F588-4350-47E5-9039-6F82A8038BA0}" type="slidenum">
              <a:t>31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60000" y="162360"/>
            <a:ext cx="9354240" cy="50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A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Query Semantic Search</a:t>
            </a:r>
            <a:endParaRPr lang="en-A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315720" y="878040"/>
            <a:ext cx="9525960" cy="38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3200" b="0" u="none" strike="noStrike">
                <a:solidFill>
                  <a:srgbClr val="009bdd"/>
                </a:solidFill>
                <a:effectLst/>
                <a:uFillTx/>
                <a:latin typeface="Arial"/>
                <a:ea typeface="DejaVu Sans"/>
              </a:rPr>
              <a:t>Query “</a:t>
            </a:r>
            <a:r>
              <a:rPr lang="en-AU" sz="3200" b="0" i="1" u="none" strike="noStrike">
                <a:solidFill>
                  <a:srgbClr val="009bdd"/>
                </a:solidFill>
                <a:effectLst/>
                <a:uFillTx/>
                <a:latin typeface="Arial"/>
                <a:ea typeface="DejaVu Sans"/>
              </a:rPr>
              <a:t>XSS issues</a:t>
            </a:r>
            <a:r>
              <a:rPr lang="en-AU" sz="3200" b="0" u="none" strike="noStrike">
                <a:solidFill>
                  <a:srgbClr val="009bdd"/>
                </a:solidFill>
                <a:effectLst/>
                <a:uFillTx/>
                <a:latin typeface="Arial"/>
                <a:ea typeface="DejaVu Sans"/>
              </a:rPr>
              <a:t>”</a:t>
            </a:r>
            <a:endParaRPr lang="en-A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3200" b="0" u="none" strike="noStrike">
                <a:solidFill>
                  <a:srgbClr val="009bdd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A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3200" b="0" u="none" strike="noStrike">
                <a:solidFill>
                  <a:srgbClr val="009bdd"/>
                </a:solidFill>
                <a:effectLst/>
                <a:uFillTx/>
                <a:latin typeface="Arial"/>
                <a:ea typeface="DejaVu Sans"/>
              </a:rPr>
              <a:t>Semantic search returns:</a:t>
            </a:r>
            <a:endParaRPr lang="en-A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3200" b="0" u="none" strike="noStrike">
                <a:solidFill>
                  <a:srgbClr val="009bdd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A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32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installed version of Jenkins server was affected by a number of security vulnerabilities. Known vulnerabilities included CSRF and </a:t>
            </a:r>
            <a:r>
              <a:rPr lang="en-AU" sz="3200" b="1" i="1" u="sng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XSS</a:t>
            </a:r>
            <a:r>
              <a:rPr lang="en-AU" sz="32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weaknesses.</a:t>
            </a:r>
            <a:r>
              <a:rPr lang="en-AU" sz="3200" b="0" u="none" strike="noStrike">
                <a:solidFill>
                  <a:srgbClr val="009bdd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AU" sz="2800" b="0" u="none" strike="noStrike">
                <a:solidFill>
                  <a:srgbClr val="009bdd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027BCEC-77EE-4C93-A2F6-7DFB333E6BB4}" type="slidenum">
              <a:t>32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1795</TotalTime>
  <Application>LibreOffice/25.8.5.2$Windows_X86_64 LibreOffice_project/9c8b85f387cc00a89945a79c9e6239f32e450ac2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2025-10-19T09:40:00Z</dcterms:created>
  <dc:creator/>
  <dc:description>This work is licensed under a Creative Commons 0 License.
It makes use of the works of kka_libo_design@ashisuto.co.jp.</dc:description>
  <dc:language>en-AU</dc:language>
  <cp:lastModifiedBy/>
  <dcterms:modified xsi:type="dcterms:W3CDTF">2026-03-17T22:23:05Z</dcterms:modified>
  <cp:revision>124</cp:revision>
  <dc:subject/>
  <dc:title>Blue Curve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