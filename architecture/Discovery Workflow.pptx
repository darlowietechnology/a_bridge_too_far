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4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6.xml" ContentType="application/vnd.openxmlformats-officedocument.theme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4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A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A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6FDEC37-A197-4631-9A3F-77F21A397754}" type="slidenum"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/>
          <p:nvPr/>
        </p:nvSpPr>
        <p:spPr>
          <a:xfrm flipH="1" flipV="1">
            <a:off x="-5760" y="4494240"/>
            <a:ext cx="10074600" cy="11646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4600" cy="107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4600" cy="161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089CF49-D5F1-459A-8DEB-30864599099C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 flipH="1" flipV="1">
            <a:off x="-5760" y="4494240"/>
            <a:ext cx="10074600" cy="11646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4600" cy="107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4600" cy="161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360000" y="5220000"/>
            <a:ext cx="23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420000" y="5220000"/>
            <a:ext cx="32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7380000" y="5220000"/>
            <a:ext cx="23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F980B80-7AB7-4C29-A6EE-548F43A606E3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_Curv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0071360" cy="71460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" name=""/>
          <p:cNvSpPr/>
          <p:nvPr/>
        </p:nvSpPr>
        <p:spPr>
          <a:xfrm>
            <a:off x="3240" y="5040000"/>
            <a:ext cx="10071360" cy="62604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54600" cy="47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7"/>
          </p:nvPr>
        </p:nvSpPr>
        <p:spPr>
          <a:xfrm>
            <a:off x="360000" y="5220000"/>
            <a:ext cx="23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8"/>
          </p:nvPr>
        </p:nvSpPr>
        <p:spPr>
          <a:xfrm>
            <a:off x="3420000" y="5220000"/>
            <a:ext cx="32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9"/>
          </p:nvPr>
        </p:nvSpPr>
        <p:spPr>
          <a:xfrm>
            <a:off x="7380000" y="5220000"/>
            <a:ext cx="23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EEEC85-C54F-41AE-A5E0-7FE63A155531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ue_Curv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 flipH="1" flipV="1">
            <a:off x="-5040" y="4494960"/>
            <a:ext cx="10075320" cy="116532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5320" cy="107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5320" cy="161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0"/>
          </p:nvPr>
        </p:nvSpPr>
        <p:spPr>
          <a:xfrm>
            <a:off x="360000" y="5220000"/>
            <a:ext cx="233532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1"/>
          </p:nvPr>
        </p:nvSpPr>
        <p:spPr>
          <a:xfrm>
            <a:off x="3420000" y="5220000"/>
            <a:ext cx="323532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2"/>
          </p:nvPr>
        </p:nvSpPr>
        <p:spPr>
          <a:xfrm>
            <a:off x="7380000" y="5220000"/>
            <a:ext cx="233532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A7D2E0-3C6A-40F0-B5F3-5337953D452E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_Curve1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10072080" cy="71532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" name=""/>
          <p:cNvSpPr/>
          <p:nvPr/>
        </p:nvSpPr>
        <p:spPr>
          <a:xfrm>
            <a:off x="3240" y="5040000"/>
            <a:ext cx="10072080" cy="62676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55320" cy="4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55320" cy="359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3"/>
          </p:nvPr>
        </p:nvSpPr>
        <p:spPr>
          <a:xfrm>
            <a:off x="360000" y="5220000"/>
            <a:ext cx="233532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4"/>
          </p:nvPr>
        </p:nvSpPr>
        <p:spPr>
          <a:xfrm>
            <a:off x="3420000" y="5220000"/>
            <a:ext cx="323532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5"/>
          </p:nvPr>
        </p:nvSpPr>
        <p:spPr>
          <a:xfrm>
            <a:off x="7380000" y="5220000"/>
            <a:ext cx="233532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72BD84-A347-4A18-8502-CBD9D1F2E9B6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  <p:sldLayoutId id="2147483654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0" y="1614600"/>
            <a:ext cx="8994600" cy="108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Discovery Workflow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Introduction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Discovery workflow analyses a collection of files and matches then against known topics. Relevant files are parsed. Relevant sections of files are placed in the vector database to be used by Query application.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Discovery workflow relies optimistically on the quality of underlying LLM. It attempts to automate data discovery as much as possible. 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866A0C9-F70D-4FBC-B2E7-196874708B24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Compare Discovery and Indexer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2" name=""/>
          <p:cNvGraphicFramePr/>
          <p:nvPr/>
        </p:nvGraphicFramePr>
        <p:xfrm>
          <a:off x="250920" y="1055520"/>
          <a:ext cx="9584640" cy="3561480"/>
        </p:xfrm>
        <a:graphic>
          <a:graphicData uri="http://schemas.openxmlformats.org/drawingml/2006/table">
            <a:tbl>
              <a:tblPr/>
              <a:tblGrid>
                <a:gridCol w="4383000"/>
                <a:gridCol w="2495880"/>
                <a:gridCol w="2706120"/>
              </a:tblGrid>
              <a:tr h="451080"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Discovery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Indexer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99400"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Automatic discovery of file type and repeated content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 (needs configuration file)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12280"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Automatic data classification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Yes (predefined topics only)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57280"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Automatic discovery of JSON schema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No (relies on schema definition)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32440"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Fallback on regular expression parsing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Yes (relies on pattern definition)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5240"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Allow false positives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Yes 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73760"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Allow false negatives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A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  <a:endParaRPr b="0" lang="en-A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1A9E75E-2592-4D94-973F-5602FBBAD5E7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Discovery of File Content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Discovery workflow extracts text from file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Document is separated into sections based on internal formatting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Sections matching known topic are placed in vector table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8C601DF-D30E-4C2D-A8CC-93098C40F9F9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Discovery Test Data Set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Discovery workflow test set contains: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20 PDFs from arXiv on LLM research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11 PDFs of penetration test reports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20 text files of engineering Q&amp;A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20 text files of medical research notes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3C1F2E9-F9AB-47E7-AD77-42EBA68FCA2B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Discovery Test Topics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Penetration test results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Medical research notes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Pipe systems engineering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Civil engineering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28452BC-7DEB-4023-8DB6-64E11D70CF8B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Discovery Test Scoring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0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Section included in correct set: +1 point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0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Section included in incorrect set: -0.5 point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0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Section not included in correct set: -1 point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0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Minimum score: 0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0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Maximum score is a sum of all expected sections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4360026-D1FF-4098-9323-47C54CF80A95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Discovery Test Notes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HTML tags were removed from Engineering Q&amp;A set. This resulted in speed-up of ~30% and precision increase ~20%.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060"/>
              </a:spcBef>
              <a:buNone/>
            </a:pP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C755D43-5B05-40C7-9B49-3951BEC115ED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1123</TotalTime>
  <Application>LibreOffice/25.2.7.2$Windows_X86_64 LibreOffice_project/5cbfd1ab6520636bb5f7b99185aa69bd7456825d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2025-10-19T09:40:00Z</dcterms:created>
  <dc:creator/>
  <dc:description>This work is licensed under a Creative Commons 0 License.
It makes use of the works of kka_libo_design@ashisuto.co.jp.</dc:description>
  <dc:language>en-AU</dc:language>
  <cp:lastModifiedBy/>
  <dcterms:modified xsi:type="dcterms:W3CDTF">2026-02-05T10:52:42Z</dcterms:modified>
  <cp:revision>71</cp:revision>
  <dc:subject/>
  <dc:title>Blue Curve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