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_rels/slideMaster1.xml.rels" ContentType="application/vnd.openxmlformats-package.relationships+xml"/>
  <Override PartName="/ppt/slideMasters/_rels/slideMaster4.xml.rels" ContentType="application/vnd.openxmlformats-package.relationships+xml"/>
  <Override PartName="/ppt/notesMasters/notesMaster1.xml" ContentType="application/vnd.openxmlformats-officedocument.presentationml.notesMaster+xml"/>
  <Override PartName="/ppt/notesMasters/_rels/notesMaster1.xml.rels" ContentType="application/vnd.openxmlformats-package.relationship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6.xml" ContentType="application/vnd.openxmlformats-officedocument.theme+xml"/>
  <Override PartName="/ppt/notesSlides/_rels/notesSlide2.xml.rels" ContentType="application/vnd.openxmlformats-package.relationships+xml"/>
  <Override PartName="/ppt/notesSlides/_rels/notesSlide3.xml.rels" ContentType="application/vnd.openxmlformats-package.relationships+xml"/>
  <Override PartName="/ppt/notesSlides/_rels/notesSlide4.xml.rels" ContentType="application/vnd.openxmlformats-package.relationships+xml"/>
  <Override PartName="/ppt/notesSlides/_rels/notesSlide5.xml.rels" ContentType="application/vnd.openxmlformats-package.relationships+xml"/>
  <Override PartName="/ppt/notesSlides/_rels/notesSlide6.xml.rels" ContentType="application/vnd.openxmlformats-package.relationships+xml"/>
  <Override PartName="/ppt/notesSlides/_rels/notesSlide7.xml.rels" ContentType="application/vnd.openxmlformats-package.relationships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_rels/slideLayout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_rels/slide3.xml.rels" ContentType="application/vnd.openxmlformats-package.relationships+xml"/>
  <Override PartName="/ppt/slides/_rels/slide4.xml.rels" ContentType="application/vnd.openxmlformats-package.relationships+xml"/>
  <Override PartName="/ppt/slides/_rels/slide5.xml.rels" ContentType="application/vnd.openxmlformats-package.relationships+xml"/>
  <Override PartName="/ppt/slides/_rels/slide6.xml.rels" ContentType="application/vnd.openxmlformats-package.relationships+xml"/>
  <Override PartName="/ppt/slides/_rels/slide7.xml.rels" ContentType="application/vnd.openxmlformats-package.relationships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_rels/presentation.xml.rels" ContentType="application/vnd.openxmlformats-package.relationshi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52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</p:sldIdLst>
  <p:sldSz cx="10080625" cy="567055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4.xml"/><Relationship Id="rId4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Relationship Id="rId11" Type="http://schemas.openxmlformats.org/officeDocument/2006/relationships/slide" Target="slides/slide7.xml"/><Relationship Id="rId12" Type="http://schemas.openxmlformats.org/officeDocument/2006/relationships/presProps" Target="presProps.xml"/>
</Relationships>
</file>

<file path=ppt/notesMasters/_rels/notesMaster1.xml.rels><?xml version="1.0" encoding="UTF-8"?>
<Relationships xmlns="http://schemas.openxmlformats.org/package/2006/relationships"><Relationship Id="rId1" Type="http://schemas.openxmlformats.org/officeDocument/2006/relationships/theme" Target="../theme/theme6.xml"/>
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r>
              <a:rPr b="0" lang="en-AU" sz="44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move the slide</a:t>
            </a:r>
            <a:endParaRPr b="0" lang="en-AU" sz="4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3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Click to edit the notes' format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4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buNone/>
            </a:pPr>
            <a:r>
              <a: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&lt;header&gt;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5" name="PlaceHolder 4"/>
          <p:cNvSpPr>
            <a:spLocks noGrp="1"/>
          </p:cNvSpPr>
          <p:nvPr>
            <p:ph type="dt" idx="16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buNone/>
              <a:def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r>
              <a: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6" name="PlaceHolder 5"/>
          <p:cNvSpPr>
            <a:spLocks noGrp="1"/>
          </p:cNvSpPr>
          <p:nvPr>
            <p:ph type="ftr" idx="17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>
              <a:buNone/>
              <a:def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>
              <a:buNone/>
            </a:pPr>
            <a:r>
              <a: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7" name="PlaceHolder 6"/>
          <p:cNvSpPr>
            <a:spLocks noGrp="1"/>
          </p:cNvSpPr>
          <p:nvPr>
            <p:ph type="sldNum" idx="18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indent="0" algn="r">
              <a:buNone/>
              <a:def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defRPr>
            </a:lvl1pPr>
          </a:lstStyle>
          <a:p>
            <a:pPr indent="0" algn="r">
              <a:buNone/>
            </a:pPr>
            <a:fld id="{64E63027-B2A8-4241-B2DD-EE78AC0BBEBA}" type="slidenum">
              <a:rPr b="0" lang="en-AU" sz="1400" strike="noStrike" u="none">
                <a:solidFill>
                  <a:srgbClr val="000000"/>
                </a:solidFill>
                <a:effectLst/>
                <a:uFillTx/>
                <a:latin typeface="Times New Roman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2.xml.rels><?xml version="1.0" encoding="UTF-8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
</Relationships>
</file>

<file path=ppt/notesSlides/_rels/notesSlide3.xml.rels><?xml version="1.0" encoding="UTF-8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
</Relationships>
</file>

<file path=ppt/notesSlides/_rels/notesSlide4.xml.rels><?xml version="1.0" encoding="UTF-8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
</Relationships>
</file>

<file path=ppt/notesSlides/_rels/notesSlide5.xml.rels><?xml version="1.0" encoding="UTF-8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
</Relationships>
</file>

<file path=ppt/notesSlides/_rels/notesSlide6.xml.rels><?xml version="1.0" encoding="UTF-8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
</Relationships>
</file>

<file path=ppt/notesSlides/_rels/notesSlide7.xml.rels><?xml version="1.0" encoding="UTF-8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
</Relationship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5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56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60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5480" cy="4007160"/>
          </a:xfrm>
          <a:prstGeom prst="rect">
            <a:avLst/>
          </a:prstGeom>
          <a:ln w="0">
            <a:noFill/>
          </a:ln>
        </p:spPr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5840" cy="4809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Large Language Models allow to replace mundane text generation with automation. This can lead to reduction in labour expenses and increase in profitability.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Incorporating LLMs require changes in business process.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Every company have access to LLMs trained on public data. Therefore, the knowledge of public data is not a competitive advantage. Only private data gives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Investing in LLM workflows should focus on using private data. This gives biggest advantage.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2000" strike="noStrike" u="none">
                <a:solidFill>
                  <a:srgbClr val="000000"/>
                </a:solidFill>
                <a:effectLst/>
                <a:uFillTx/>
                <a:latin typeface="Arial"/>
              </a:rPr>
              <a:t>More context – what we try to automate. – context of security work</a:t>
            </a:r>
            <a:endParaRPr b="0" lang="en-AU" sz="20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</p:note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"/>
          <p:cNvSpPr/>
          <p:nvPr/>
        </p:nvSpPr>
        <p:spPr>
          <a:xfrm flipH="1" flipV="1">
            <a:off x="-4320" y="4495680"/>
            <a:ext cx="10076040" cy="116604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6040" cy="107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6040" cy="16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3" name="PlaceHolder 3"/>
          <p:cNvSpPr>
            <a:spLocks noGrp="1"/>
          </p:cNvSpPr>
          <p:nvPr>
            <p:ph type="dt" idx="1"/>
          </p:nvPr>
        </p:nvSpPr>
        <p:spPr>
          <a:xfrm>
            <a:off x="36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4" name="PlaceHolder 4"/>
          <p:cNvSpPr>
            <a:spLocks noGrp="1"/>
          </p:cNvSpPr>
          <p:nvPr>
            <p:ph type="ftr" idx="2"/>
          </p:nvPr>
        </p:nvSpPr>
        <p:spPr>
          <a:xfrm>
            <a:off x="3420000" y="5220000"/>
            <a:ext cx="32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5" name="PlaceHolder 5"/>
          <p:cNvSpPr>
            <a:spLocks noGrp="1"/>
          </p:cNvSpPr>
          <p:nvPr>
            <p:ph type="sldNum" idx="3"/>
          </p:nvPr>
        </p:nvSpPr>
        <p:spPr>
          <a:xfrm>
            <a:off x="738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B67A4FF5-7E0B-4CA9-A334-19EF3DD6460A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Defau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"/>
          <p:cNvSpPr/>
          <p:nvPr/>
        </p:nvSpPr>
        <p:spPr>
          <a:xfrm flipH="1" flipV="1">
            <a:off x="-4320" y="4495680"/>
            <a:ext cx="10076040" cy="116604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6040" cy="107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6040" cy="161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9" name="PlaceHolder 3"/>
          <p:cNvSpPr>
            <a:spLocks noGrp="1"/>
          </p:cNvSpPr>
          <p:nvPr>
            <p:ph type="dt" idx="4"/>
          </p:nvPr>
        </p:nvSpPr>
        <p:spPr>
          <a:xfrm>
            <a:off x="36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0" name="PlaceHolder 4"/>
          <p:cNvSpPr>
            <a:spLocks noGrp="1"/>
          </p:cNvSpPr>
          <p:nvPr>
            <p:ph type="ftr" idx="5"/>
          </p:nvPr>
        </p:nvSpPr>
        <p:spPr>
          <a:xfrm>
            <a:off x="3420000" y="5220000"/>
            <a:ext cx="32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1" name="PlaceHolder 5"/>
          <p:cNvSpPr>
            <a:spLocks noGrp="1"/>
          </p:cNvSpPr>
          <p:nvPr>
            <p:ph type="sldNum" idx="6"/>
          </p:nvPr>
        </p:nvSpPr>
        <p:spPr>
          <a:xfrm>
            <a:off x="738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867A822-D137-4E27-A57A-3A9734BDA6E1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"/>
          <p:cNvSpPr/>
          <p:nvPr/>
        </p:nvSpPr>
        <p:spPr>
          <a:xfrm>
            <a:off x="0" y="0"/>
            <a:ext cx="10072800" cy="71604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3" name=""/>
          <p:cNvSpPr/>
          <p:nvPr/>
        </p:nvSpPr>
        <p:spPr>
          <a:xfrm>
            <a:off x="3240" y="5040000"/>
            <a:ext cx="10072800" cy="62748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6040" cy="4741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 type="dt" idx="7"/>
          </p:nvPr>
        </p:nvSpPr>
        <p:spPr>
          <a:xfrm>
            <a:off x="36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 type="ftr" idx="8"/>
          </p:nvPr>
        </p:nvSpPr>
        <p:spPr>
          <a:xfrm>
            <a:off x="3420000" y="5220000"/>
            <a:ext cx="32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18" name="PlaceHolder 5"/>
          <p:cNvSpPr>
            <a:spLocks noGrp="1"/>
          </p:cNvSpPr>
          <p:nvPr>
            <p:ph type="sldNum" idx="9"/>
          </p:nvPr>
        </p:nvSpPr>
        <p:spPr>
          <a:xfrm>
            <a:off x="7380000" y="5220000"/>
            <a:ext cx="2336040" cy="35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C606F871-2545-4CD4-91EF-04D37ECE4D27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Blue_Curve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"/>
          <p:cNvSpPr/>
          <p:nvPr/>
        </p:nvSpPr>
        <p:spPr>
          <a:xfrm flipH="1" flipV="1">
            <a:off x="-3600" y="4496400"/>
            <a:ext cx="10076760" cy="1166760"/>
          </a:xfrm>
          <a:prstGeom prst="flowChartDocumen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0" name="PlaceHolder 1"/>
          <p:cNvSpPr>
            <a:spLocks noGrp="1"/>
          </p:cNvSpPr>
          <p:nvPr>
            <p:ph type="title"/>
          </p:nvPr>
        </p:nvSpPr>
        <p:spPr>
          <a:xfrm>
            <a:off x="0" y="1620000"/>
            <a:ext cx="8996760" cy="107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1" name="PlaceHolder 2"/>
          <p:cNvSpPr>
            <a:spLocks noGrp="1"/>
          </p:cNvSpPr>
          <p:nvPr>
            <p:ph type="body"/>
          </p:nvPr>
        </p:nvSpPr>
        <p:spPr>
          <a:xfrm>
            <a:off x="360000" y="2880000"/>
            <a:ext cx="9356760" cy="161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 fontScale="85000" lnSpcReduction="19999"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2" name="PlaceHolder 3"/>
          <p:cNvSpPr>
            <a:spLocks noGrp="1"/>
          </p:cNvSpPr>
          <p:nvPr>
            <p:ph type="dt" idx="10"/>
          </p:nvPr>
        </p:nvSpPr>
        <p:spPr>
          <a:xfrm>
            <a:off x="360000" y="5220000"/>
            <a:ext cx="23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3" name="PlaceHolder 4"/>
          <p:cNvSpPr>
            <a:spLocks noGrp="1"/>
          </p:cNvSpPr>
          <p:nvPr>
            <p:ph type="ftr" idx="11"/>
          </p:nvPr>
        </p:nvSpPr>
        <p:spPr>
          <a:xfrm>
            <a:off x="3420000" y="5220000"/>
            <a:ext cx="32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24" name="PlaceHolder 5"/>
          <p:cNvSpPr>
            <a:spLocks noGrp="1"/>
          </p:cNvSpPr>
          <p:nvPr>
            <p:ph type="sldNum" idx="12"/>
          </p:nvPr>
        </p:nvSpPr>
        <p:spPr>
          <a:xfrm>
            <a:off x="7380000" y="5220000"/>
            <a:ext cx="23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3B5490B0-DBA4-4BAA-B350-4193D9C83099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Blue_Curve1_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"/>
          <p:cNvSpPr/>
          <p:nvPr/>
        </p:nvSpPr>
        <p:spPr>
          <a:xfrm>
            <a:off x="0" y="0"/>
            <a:ext cx="10073520" cy="71676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6" name=""/>
          <p:cNvSpPr/>
          <p:nvPr/>
        </p:nvSpPr>
        <p:spPr>
          <a:xfrm>
            <a:off x="3240" y="5040000"/>
            <a:ext cx="10073520" cy="628200"/>
          </a:xfrm>
          <a:prstGeom prst="rect">
            <a:avLst/>
          </a:prstGeom>
          <a:gradFill rotWithShape="0">
            <a:gsLst>
              <a:gs pos="0">
                <a:srgbClr val="77caee"/>
              </a:gs>
              <a:gs pos="1563">
                <a:srgbClr val="77caee"/>
              </a:gs>
              <a:gs pos="1563">
                <a:srgbClr val="75c9ee"/>
              </a:gs>
              <a:gs pos="3125">
                <a:srgbClr val="75c9ee"/>
              </a:gs>
              <a:gs pos="3125">
                <a:srgbClr val="73c9ed"/>
              </a:gs>
              <a:gs pos="4688">
                <a:srgbClr val="73c9ed"/>
              </a:gs>
              <a:gs pos="4688">
                <a:srgbClr val="71c8ed"/>
              </a:gs>
              <a:gs pos="6250">
                <a:srgbClr val="71c8ed"/>
              </a:gs>
              <a:gs pos="6250">
                <a:srgbClr val="6fc7ed"/>
              </a:gs>
              <a:gs pos="7813">
                <a:srgbClr val="6fc7ed"/>
              </a:gs>
              <a:gs pos="7813">
                <a:srgbClr val="6ec6ed"/>
              </a:gs>
              <a:gs pos="9375">
                <a:srgbClr val="6ec6ed"/>
              </a:gs>
              <a:gs pos="9375">
                <a:srgbClr val="6cc6ec"/>
              </a:gs>
              <a:gs pos="10938">
                <a:srgbClr val="6cc6ec"/>
              </a:gs>
              <a:gs pos="10938">
                <a:srgbClr val="6ac5ec"/>
              </a:gs>
              <a:gs pos="12500">
                <a:srgbClr val="6ac5ec"/>
              </a:gs>
              <a:gs pos="12500">
                <a:srgbClr val="68c4ec"/>
              </a:gs>
              <a:gs pos="14063">
                <a:srgbClr val="68c4ec"/>
              </a:gs>
              <a:gs pos="14063">
                <a:srgbClr val="66c3ec"/>
              </a:gs>
              <a:gs pos="15625">
                <a:srgbClr val="66c3ec"/>
              </a:gs>
              <a:gs pos="15625">
                <a:srgbClr val="64c3eb"/>
              </a:gs>
              <a:gs pos="17188">
                <a:srgbClr val="64c3eb"/>
              </a:gs>
              <a:gs pos="17188">
                <a:srgbClr val="62c2eb"/>
              </a:gs>
              <a:gs pos="18750">
                <a:srgbClr val="62c2eb"/>
              </a:gs>
              <a:gs pos="18750">
                <a:srgbClr val="60c1eb"/>
              </a:gs>
              <a:gs pos="20313">
                <a:srgbClr val="60c1eb"/>
              </a:gs>
              <a:gs pos="20313">
                <a:srgbClr val="5ec0ea"/>
              </a:gs>
              <a:gs pos="21875">
                <a:srgbClr val="5ec0ea"/>
              </a:gs>
              <a:gs pos="21875">
                <a:srgbClr val="5dc0ea"/>
              </a:gs>
              <a:gs pos="23438">
                <a:srgbClr val="5dc0ea"/>
              </a:gs>
              <a:gs pos="23438">
                <a:srgbClr val="5bbfea"/>
              </a:gs>
              <a:gs pos="25000">
                <a:srgbClr val="5bbfea"/>
              </a:gs>
              <a:gs pos="25000">
                <a:srgbClr val="59beea"/>
              </a:gs>
              <a:gs pos="26563">
                <a:srgbClr val="59beea"/>
              </a:gs>
              <a:gs pos="26563">
                <a:srgbClr val="57bde9"/>
              </a:gs>
              <a:gs pos="28125">
                <a:srgbClr val="57bde9"/>
              </a:gs>
              <a:gs pos="28125">
                <a:srgbClr val="55bde9"/>
              </a:gs>
              <a:gs pos="29688">
                <a:srgbClr val="55bde9"/>
              </a:gs>
              <a:gs pos="29688">
                <a:srgbClr val="53bce9"/>
              </a:gs>
              <a:gs pos="31250">
                <a:srgbClr val="53bce9"/>
              </a:gs>
              <a:gs pos="31250">
                <a:srgbClr val="51bbe9"/>
              </a:gs>
              <a:gs pos="32813">
                <a:srgbClr val="51bbe9"/>
              </a:gs>
              <a:gs pos="32813">
                <a:srgbClr val="4fbae8"/>
              </a:gs>
              <a:gs pos="34375">
                <a:srgbClr val="4fbae8"/>
              </a:gs>
              <a:gs pos="34375">
                <a:srgbClr val="4dbae8"/>
              </a:gs>
              <a:gs pos="35938">
                <a:srgbClr val="4dbae8"/>
              </a:gs>
              <a:gs pos="35938">
                <a:srgbClr val="4cb9e8"/>
              </a:gs>
              <a:gs pos="37500">
                <a:srgbClr val="4cb9e8"/>
              </a:gs>
              <a:gs pos="37500">
                <a:srgbClr val="4ab8e8"/>
              </a:gs>
              <a:gs pos="39063">
                <a:srgbClr val="4ab8e8"/>
              </a:gs>
              <a:gs pos="39063">
                <a:srgbClr val="48b7e7"/>
              </a:gs>
              <a:gs pos="40625">
                <a:srgbClr val="48b7e7"/>
              </a:gs>
              <a:gs pos="40625">
                <a:srgbClr val="46b7e7"/>
              </a:gs>
              <a:gs pos="42188">
                <a:srgbClr val="46b7e7"/>
              </a:gs>
              <a:gs pos="42188">
                <a:srgbClr val="44b6e7"/>
              </a:gs>
              <a:gs pos="43750">
                <a:srgbClr val="44b6e7"/>
              </a:gs>
              <a:gs pos="43750">
                <a:srgbClr val="42b5e6"/>
              </a:gs>
              <a:gs pos="45313">
                <a:srgbClr val="42b5e6"/>
              </a:gs>
              <a:gs pos="45313">
                <a:srgbClr val="40b4e6"/>
              </a:gs>
              <a:gs pos="46875">
                <a:srgbClr val="40b4e6"/>
              </a:gs>
              <a:gs pos="46875">
                <a:srgbClr val="3eb4e6"/>
              </a:gs>
              <a:gs pos="48438">
                <a:srgbClr val="3eb4e6"/>
              </a:gs>
              <a:gs pos="48438">
                <a:srgbClr val="3cb3e6"/>
              </a:gs>
              <a:gs pos="50000">
                <a:srgbClr val="3cb3e6"/>
              </a:gs>
              <a:gs pos="50000">
                <a:srgbClr val="3bb2e5"/>
              </a:gs>
              <a:gs pos="51563">
                <a:srgbClr val="3bb2e5"/>
              </a:gs>
              <a:gs pos="51563">
                <a:srgbClr val="39b1e5"/>
              </a:gs>
              <a:gs pos="53125">
                <a:srgbClr val="39b1e5"/>
              </a:gs>
              <a:gs pos="53125">
                <a:srgbClr val="37b1e5"/>
              </a:gs>
              <a:gs pos="54688">
                <a:srgbClr val="37b1e5"/>
              </a:gs>
              <a:gs pos="54688">
                <a:srgbClr val="35b0e5"/>
              </a:gs>
              <a:gs pos="56250">
                <a:srgbClr val="35b0e5"/>
              </a:gs>
              <a:gs pos="56250">
                <a:srgbClr val="33afe4"/>
              </a:gs>
              <a:gs pos="57813">
                <a:srgbClr val="33afe4"/>
              </a:gs>
              <a:gs pos="57813">
                <a:srgbClr val="31aee4"/>
              </a:gs>
              <a:gs pos="59375">
                <a:srgbClr val="31aee4"/>
              </a:gs>
              <a:gs pos="59375">
                <a:srgbClr val="2faee4"/>
              </a:gs>
              <a:gs pos="60938">
                <a:srgbClr val="2faee4"/>
              </a:gs>
              <a:gs pos="60938">
                <a:srgbClr val="2dade3"/>
              </a:gs>
              <a:gs pos="62500">
                <a:srgbClr val="2dade3"/>
              </a:gs>
              <a:gs pos="62500">
                <a:srgbClr val="2bace3"/>
              </a:gs>
              <a:gs pos="64063">
                <a:srgbClr val="2bace3"/>
              </a:gs>
              <a:gs pos="64063">
                <a:srgbClr val="2aabe3"/>
              </a:gs>
              <a:gs pos="65625">
                <a:srgbClr val="2aabe3"/>
              </a:gs>
              <a:gs pos="65625">
                <a:srgbClr val="28abe3"/>
              </a:gs>
              <a:gs pos="67188">
                <a:srgbClr val="28abe3"/>
              </a:gs>
              <a:gs pos="67188">
                <a:srgbClr val="26aae2"/>
              </a:gs>
              <a:gs pos="68750">
                <a:srgbClr val="26aae2"/>
              </a:gs>
              <a:gs pos="68750">
                <a:srgbClr val="24a9e2"/>
              </a:gs>
              <a:gs pos="70313">
                <a:srgbClr val="24a9e2"/>
              </a:gs>
              <a:gs pos="70313">
                <a:srgbClr val="22a8e2"/>
              </a:gs>
              <a:gs pos="71875">
                <a:srgbClr val="22a8e2"/>
              </a:gs>
              <a:gs pos="71875">
                <a:srgbClr val="20a8e2"/>
              </a:gs>
              <a:gs pos="73438">
                <a:srgbClr val="20a8e2"/>
              </a:gs>
              <a:gs pos="73438">
                <a:srgbClr val="1ea7e1"/>
              </a:gs>
              <a:gs pos="75000">
                <a:srgbClr val="1ea7e1"/>
              </a:gs>
              <a:gs pos="75000">
                <a:srgbClr val="1ca6e1"/>
              </a:gs>
              <a:gs pos="76563">
                <a:srgbClr val="1ca6e1"/>
              </a:gs>
              <a:gs pos="76563">
                <a:srgbClr val="1aa5e1"/>
              </a:gs>
              <a:gs pos="78125">
                <a:srgbClr val="1aa5e1"/>
              </a:gs>
              <a:gs pos="78125">
                <a:srgbClr val="19a5e1"/>
              </a:gs>
              <a:gs pos="79688">
                <a:srgbClr val="19a5e1"/>
              </a:gs>
              <a:gs pos="79688">
                <a:srgbClr val="17a4e0"/>
              </a:gs>
              <a:gs pos="81250">
                <a:srgbClr val="17a4e0"/>
              </a:gs>
              <a:gs pos="81250">
                <a:srgbClr val="15a3e0"/>
              </a:gs>
              <a:gs pos="82813">
                <a:srgbClr val="15a3e0"/>
              </a:gs>
              <a:gs pos="82813">
                <a:srgbClr val="13a2e0"/>
              </a:gs>
              <a:gs pos="84375">
                <a:srgbClr val="13a2e0"/>
              </a:gs>
              <a:gs pos="84375">
                <a:srgbClr val="11a2df"/>
              </a:gs>
              <a:gs pos="85938">
                <a:srgbClr val="11a2df"/>
              </a:gs>
              <a:gs pos="85938">
                <a:srgbClr val="0fa1df"/>
              </a:gs>
              <a:gs pos="87500">
                <a:srgbClr val="0fa1df"/>
              </a:gs>
              <a:gs pos="87500">
                <a:srgbClr val="0da0df"/>
              </a:gs>
              <a:gs pos="89063">
                <a:srgbClr val="0da0df"/>
              </a:gs>
              <a:gs pos="89063">
                <a:srgbClr val="0b9fdf"/>
              </a:gs>
              <a:gs pos="90625">
                <a:srgbClr val="0b9fdf"/>
              </a:gs>
              <a:gs pos="90625">
                <a:srgbClr val="099fde"/>
              </a:gs>
              <a:gs pos="92188">
                <a:srgbClr val="099fde"/>
              </a:gs>
              <a:gs pos="92188">
                <a:srgbClr val="089ede"/>
              </a:gs>
              <a:gs pos="93750">
                <a:srgbClr val="089ede"/>
              </a:gs>
              <a:gs pos="93750">
                <a:srgbClr val="069dde"/>
              </a:gs>
              <a:gs pos="95313">
                <a:srgbClr val="069dde"/>
              </a:gs>
              <a:gs pos="95313">
                <a:srgbClr val="049cde"/>
              </a:gs>
              <a:gs pos="96875">
                <a:srgbClr val="049cde"/>
              </a:gs>
              <a:gs pos="96875">
                <a:srgbClr val="029cdd"/>
              </a:gs>
              <a:gs pos="98438">
                <a:srgbClr val="029cdd"/>
              </a:gs>
              <a:gs pos="98438">
                <a:srgbClr val="009bdd"/>
              </a:gs>
              <a:gs pos="100000">
                <a:srgbClr val="009bdd"/>
              </a:gs>
            </a:gsLst>
            <a:lin ang="10800000"/>
          </a:gradFill>
          <a:ln w="18000">
            <a:noFill/>
          </a:ln>
          <a:effectLst>
            <a:outerShdw blurRad="0" dir="5400000" dist="10800" rotWithShape="0">
              <a:srgbClr val="009bdd"/>
            </a:outerShdw>
          </a:effectLst>
        </p:spPr>
        <p:style>
          <a:lnRef idx="0"/>
          <a:fillRef idx="0"/>
          <a:effectRef idx="0"/>
          <a:fontRef idx="minor"/>
        </p:style>
        <p:txBody>
          <a:bodyPr wrap="none" lIns="90000" rIns="90000" tIns="45000" bIns="45000" anchor="ctr">
            <a:noAutofit/>
          </a:bodyPr>
          <a:p>
            <a:pPr>
              <a:lnSpc>
                <a:spcPct val="100000"/>
              </a:lnSpc>
            </a:pP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  <a:ea typeface="DejaVu Sans"/>
            </a:endParaRPr>
          </a:p>
        </p:txBody>
      </p:sp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360000" y="180000"/>
            <a:ext cx="9356760" cy="474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Click to edit the title text format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 type="body"/>
          </p:nvPr>
        </p:nvSpPr>
        <p:spPr>
          <a:xfrm>
            <a:off x="360000" y="1080000"/>
            <a:ext cx="9356760" cy="359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4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Click to edit the outline text format</a:t>
            </a:r>
            <a:endParaRPr b="0" lang="en-AU" sz="24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85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1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Second Outline Level</a:t>
            </a:r>
            <a:endParaRPr b="0" lang="en-AU" sz="21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2" marL="1296000" indent="-288000">
              <a:lnSpc>
                <a:spcPct val="100000"/>
              </a:lnSpc>
              <a:spcBef>
                <a:spcPts val="635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Third Outline Level</a:t>
            </a:r>
            <a:endParaRPr b="0" lang="en-AU" sz="1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3" marL="1728000" indent="-216000">
              <a:lnSpc>
                <a:spcPct val="100000"/>
              </a:lnSpc>
              <a:spcBef>
                <a:spcPts val="422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Fourth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4" marL="2160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Fifth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5" marL="2592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Sixth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6" marL="3024000" indent="-216000">
              <a:lnSpc>
                <a:spcPct val="100000"/>
              </a:lnSpc>
              <a:spcBef>
                <a:spcPts val="21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15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Seventh Outline Level</a:t>
            </a:r>
            <a:endParaRPr b="0" lang="en-AU" sz="15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 type="dt" idx="13"/>
          </p:nvPr>
        </p:nvSpPr>
        <p:spPr>
          <a:xfrm>
            <a:off x="360000" y="5220000"/>
            <a:ext cx="23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&lt;date/time&gt;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0" name="PlaceHolder 4"/>
          <p:cNvSpPr>
            <a:spLocks noGrp="1"/>
          </p:cNvSpPr>
          <p:nvPr>
            <p:ph type="ftr" idx="14"/>
          </p:nvPr>
        </p:nvSpPr>
        <p:spPr>
          <a:xfrm>
            <a:off x="3420000" y="5220000"/>
            <a:ext cx="32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ct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&lt;footer&gt;</a:t>
            </a:r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  <p:sp>
        <p:nvSpPr>
          <p:cNvPr id="31" name="PlaceHolder 5"/>
          <p:cNvSpPr>
            <a:spLocks noGrp="1"/>
          </p:cNvSpPr>
          <p:nvPr>
            <p:ph type="sldNum" idx="15"/>
          </p:nvPr>
        </p:nvSpPr>
        <p:spPr>
          <a:xfrm>
            <a:off x="7380000" y="5220000"/>
            <a:ext cx="2336760" cy="3567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A5FACDE-10D0-408C-BE87-596B8FB88EDF}" type="slidenum">
              <a:rPr b="0" lang="en-AU" sz="1400" strike="noStrike" u="none">
                <a:solidFill>
                  <a:srgbClr val="ffffff"/>
                </a:solidFill>
                <a:effectLst/>
                <a:uFillTx/>
                <a:latin typeface="Arial"/>
              </a:rPr>
              <a:t>&lt;number&gt;</a:t>
            </a:fld>
            <a:endParaRPr b="0" lang="en-AU" sz="1400" strike="noStrike" u="none">
              <a:solidFill>
                <a:srgbClr val="000000"/>
              </a:solidFill>
              <a:effectLst/>
              <a:uFillTx/>
              <a:latin typeface="Times New Roman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4.xml"/><Relationship Id="rId3" Type="http://schemas.openxmlformats.org/officeDocument/2006/relationships/slideLayout" Target="../slideLayouts/slideLayout5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3" r:id="rId2"/>
    <p:sldLayoutId id="2147483654" r:id="rId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0" y="1616040"/>
            <a:ext cx="8996040" cy="1083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dd4100"/>
                </a:solidFill>
                <a:effectLst/>
                <a:uFillTx/>
                <a:latin typeface="Arial"/>
              </a:rPr>
              <a:t>Discovery Workflow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Introduction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Discovery workflow analyses a collection of files and matches then against known topics. Relevant files are parsed. Relevant sections of files are placed in the vector database to be used by Query application.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Discovery workflow relies optimistically on the quality of underlying LLM. It attempts to automate data discovery as much as possible. 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A07F773-61C4-4A2E-ADB1-EC195F1CECE4}" type="slidenum">
              <a:t>2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Compare Discovery and Indexer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graphicFrame>
        <p:nvGraphicFramePr>
          <p:cNvPr id="42" name=""/>
          <p:cNvGraphicFramePr/>
          <p:nvPr/>
        </p:nvGraphicFramePr>
        <p:xfrm>
          <a:off x="250920" y="1055520"/>
          <a:ext cx="9584640" cy="3561480"/>
        </p:xfrm>
        <a:graphic>
          <a:graphicData uri="http://schemas.openxmlformats.org/drawingml/2006/table">
            <a:tbl>
              <a:tblPr/>
              <a:tblGrid>
                <a:gridCol w="4383000"/>
                <a:gridCol w="2495880"/>
                <a:gridCol w="2706120"/>
              </a:tblGrid>
              <a:tr h="451080">
                <a:tc>
                  <a:txBody>
                    <a:bodyPr lIns="36000" rIns="36000" anchor="ctr">
                      <a:noAutofit/>
                    </a:bodyPr>
                    <a:p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Discovery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Indexer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9940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Automatic discovery of file type and repeated content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 (needs configuration file)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1228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Automatic data classification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 (predefined topics only)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5728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Automatic discovery of JSON schema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  <a:ea typeface="Microsoft YaHei"/>
                        </a:rPr>
                        <a:t>No (relies on schema definition)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53244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Fallback on regular expression parsing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 (relies on pattern definition)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3524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Allow false positives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 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  <a:tr h="473760"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Allow false negatives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Yes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  <a:tc>
                  <a:txBody>
                    <a:bodyPr lIns="36000" rIns="36000" anchor="ctr">
                      <a:noAutofit/>
                    </a:bodyPr>
                    <a:p>
                      <a:pPr>
                        <a:lnSpc>
                          <a:spcPct val="100000"/>
                        </a:lnSpc>
                      </a:pPr>
                      <a:r>
                        <a:rPr b="0" lang="en-AU" sz="1400" strike="noStrike" u="none">
                          <a:solidFill>
                            <a:srgbClr val="000000"/>
                          </a:solidFill>
                          <a:effectLst/>
                          <a:uFillTx/>
                          <a:latin typeface="Arial"/>
                        </a:rPr>
                        <a:t>No</a:t>
                      </a:r>
                      <a:endParaRPr b="0" lang="en-AU" sz="1400" strike="noStrike" u="none">
                        <a:solidFill>
                          <a:srgbClr val="000000"/>
                        </a:solidFill>
                        <a:effectLst/>
                        <a:uFillTx/>
                        <a:latin typeface="Arial"/>
                      </a:endParaRPr>
                    </a:p>
                  </a:txBody>
                  <a:tcPr anchor="ctr" marL="36000" marR="36000">
                    <a:lnL w="7200">
                      <a:solidFill>
                        <a:srgbClr val="000000"/>
                      </a:solidFill>
                      <a:prstDash val="solid"/>
                    </a:lnL>
                    <a:lnR w="7200">
                      <a:solidFill>
                        <a:srgbClr val="000000"/>
                      </a:solidFill>
                      <a:prstDash val="solid"/>
                    </a:lnR>
                    <a:lnT w="7200">
                      <a:solidFill>
                        <a:srgbClr val="000000"/>
                      </a:solidFill>
                      <a:prstDash val="solid"/>
                    </a:lnT>
                    <a:lnB w="7200">
                      <a:solidFill>
                        <a:srgbClr val="000000"/>
                      </a:solidFill>
                      <a:prstDash val="soli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57B569C-505B-4833-8830-03783906E45E}" type="slidenum">
              <a:t>3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Discovery of File Content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4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Discovery workflow extracts text from file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Document is chunked based on internal formatting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Chunks matching known topic are placed in vector table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0">
              <a:lnSpc>
                <a:spcPct val="100000"/>
              </a:lnSpc>
              <a:spcBef>
                <a:spcPts val="1060"/>
              </a:spcBef>
              <a:buNone/>
              <a:tabLst>
                <a:tab algn="l" pos="0"/>
              </a:tabLst>
            </a:pP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8AA8725-CC94-436B-8433-DEE7D31824C4}" type="slidenum">
              <a:t>4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Discovery Test Data Set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6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Discovery workflow test set contains: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20 PDFs from arXiv on LLM research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11 PDFs of penetration test reports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100 text files of engineering Q&amp;A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lvl="1" marL="864000" indent="-324000">
              <a:lnSpc>
                <a:spcPct val="100000"/>
              </a:lnSpc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100 text files of medical research notes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E65CA0E-3492-42CF-A12A-F6A88B4E5450}" type="slidenum">
              <a:t>5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Discovery Test Topics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Penetration test results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Medical research notes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Pipe systems engineering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Civil engineering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9773C131-A4D5-48AC-BB96-9C68DA6AB66E}" type="slidenum">
              <a:t>6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360000" y="164160"/>
            <a:ext cx="9356040" cy="505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sp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AU" sz="3300" strike="noStrike" u="none">
                <a:solidFill>
                  <a:srgbClr val="eeeeee"/>
                </a:solidFill>
                <a:effectLst/>
                <a:uFillTx/>
                <a:latin typeface="Arial"/>
              </a:rPr>
              <a:t>Discovery Test Scoring</a:t>
            </a:r>
            <a:endParaRPr b="0" lang="en-AU" sz="33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360000" y="1080000"/>
            <a:ext cx="935604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File included in correct set: +1 point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</a:rPr>
              <a:t>File included in incorrect set: -0.5 point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File not included in correct set: -1 point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  <a:p>
            <a:pPr marL="432000" indent="-324000">
              <a:lnSpc>
                <a:spcPct val="100000"/>
              </a:lnSpc>
              <a:spcBef>
                <a:spcPts val="1060"/>
              </a:spcBef>
              <a:buClr>
                <a:srgbClr val="77caee"/>
              </a:buClr>
              <a:buSzPct val="45000"/>
              <a:buFont typeface="Wingdings" charset="2"/>
              <a:buChar char=""/>
            </a:pPr>
            <a:r>
              <a:rPr b="0" lang="en-AU" sz="2800" strike="noStrike" u="none">
                <a:solidFill>
                  <a:srgbClr val="009bdd"/>
                </a:solidFill>
                <a:effectLst/>
                <a:uFillTx/>
                <a:latin typeface="Arial"/>
                <a:ea typeface="Microsoft YaHei"/>
              </a:rPr>
              <a:t>Minimum score: 0 </a:t>
            </a:r>
            <a:endParaRPr b="0" lang="en-AU" sz="2800" strike="noStrike" u="none">
              <a:solidFill>
                <a:srgbClr val="000000"/>
              </a:solidFill>
              <a:effectLst/>
              <a:uFillTx/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F705639-588F-4546-9A63-82912C798BCC}" type="slidenum">
              <a:t>7</a:t>
            </a:fld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Offic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ppt/theme/theme6.xml><?xml version="1.0" encoding="utf-8"?>
<a:theme xmlns:a="http://schemas.openxmlformats.org/drawingml/2006/main" xmlns:r="http://schemas.openxmlformats.org/officeDocument/2006/relationships" name="Office Theme">
  <a:themeElements>
    <a:clrScheme name="LibreOffice">
      <a:dk1>
        <a:srgbClr val="000000"/>
      </a:dk1>
      <a:lt1>
        <a:srgbClr val="ffffff"/>
      </a:lt1>
      <a:dk2>
        <a:srgbClr val="000000"/>
      </a:dk2>
      <a:lt2>
        <a:srgbClr val="ffffff"/>
      </a:lt2>
      <a:accent1>
        <a:srgbClr val="18a303"/>
      </a:accent1>
      <a:accent2>
        <a:srgbClr val="0369a3"/>
      </a:accent2>
      <a:accent3>
        <a:srgbClr val="a33e03"/>
      </a:accent3>
      <a:accent4>
        <a:srgbClr val="8e03a3"/>
      </a:accent4>
      <a:accent5>
        <a:srgbClr val="c99c00"/>
      </a:accent5>
      <a:accent6>
        <a:srgbClr val="c9211e"/>
      </a:accent6>
      <a:hlink>
        <a:srgbClr val="0000ee"/>
      </a:hlink>
      <a:folHlink>
        <a:srgbClr val="551a8b"/>
      </a:folHlink>
    </a:clrScheme>
    <a:fontScheme name="Office">
      <a:majorFont>
        <a:latin typeface="Arial" pitchFamily="0" charset="1"/>
        <a:ea typeface="DejaVu Sans" pitchFamily="0" charset="1"/>
        <a:cs typeface="DejaVu Sans" pitchFamily="0" charset="1"/>
      </a:majorFont>
      <a:minorFont>
        <a:latin typeface="Arial" pitchFamily="0" charset="1"/>
        <a:ea typeface="DejaVu Sans" pitchFamily="0" charset="1"/>
        <a:cs typeface="DejaVu Sans" pitchFamily="0" charset="1"/>
      </a:minorFont>
    </a:fontScheme>
    <a:fmtScheme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prstDash val="solid"/>
          <a:miter/>
        </a:ln>
        <a:ln w="6350" cap="flat" cmpd="sng" algn="ctr">
          <a:prstDash val="solid"/>
          <a:miter/>
        </a:ln>
        <a:ln w="6350" cap="flat" cmpd="sng" algn="ctr"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805</TotalTime>
  <Application>LibreOffice/25.2.7.2$Windows_X86_64 LibreOffice_project/5cbfd1ab6520636bb5f7b99185aa69bd7456825d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2025-10-19T09:40:00Z</dcterms:created>
  <dc:creator/>
  <dc:description>This work is licensed under a Creative Commons 0 License.
It makes use of the works of kka_libo_design@ashisuto.co.jp.</dc:description>
  <dc:language>en-AU</dc:language>
  <cp:lastModifiedBy/>
  <dcterms:modified xsi:type="dcterms:W3CDTF">2026-01-28T23:04:36Z</dcterms:modified>
  <cp:revision>64</cp:revision>
  <dc:subject/>
  <dc:title>Blue Curve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